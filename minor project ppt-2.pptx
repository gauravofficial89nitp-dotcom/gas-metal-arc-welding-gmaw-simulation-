
<file path=[Content_Types].xml><?xml version="1.0" encoding="utf-8"?>
<Types xmlns="http://schemas.openxmlformats.org/package/2006/content-types">
  <Default ContentType="image/jpeg" Extension="jpg"/>
  <Default ContentType="video/mp4" Extension="mp4"/>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10.xml"/>
  <Override ContentType="application/vnd.openxmlformats-officedocument.presentationml.notesSlide+xml" PartName="/ppt/notesSlides/notesSlide4.xml"/>
  <Override ContentType="application/vnd.openxmlformats-officedocument.presentationml.slideMaster+xml" PartName="/ppt/slideMasters/slideMaster1.xml"/>
  <Override ContentType="application/vnd.openxmlformats-officedocument.presentationml.slideLayout+xml" PartName="/ppt/slideLayouts/slideLayout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6939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basic idea. Deposition welding simply means melting a material and depositing it onto a base component to add a new layer, either to build up geometry or to repair a worn part. The important elements are the substrate, which is the base component; the heat source, which melts the filler material; the molten pool that forms; and finally the solidified layer that remains once it cools. This is repeated layer after layer until the required shape is achieved. On the right you can see the basic sequence: heat source, melting, deposition, solidification, and finally a new layer of material.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breaks the process into six simple steps. First, the substrate is prepared — cleaned and fixed in position. Second, the heat source generates enough heat to melt the filler material. Third, this molten material is deposited onto the substrate. Fourth, it cools and solidifies into a bonded layer. Fifth, the heat source keeps moving along a predefined path, and sixth, more layers are added on top until we reach the final geometry. The strip at the bottom summarizes this as one continuous flow, from the bare substrate all the way to the final deposited component.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real problem with actual welding. It generates very high, localized temperatures, which means the material heats up, expands, then cools and contracts. Because this heating and cooling is never perfectly uniform, it produces temperature gradients, residual stresses, distortion, dimensional inaccuracies, and sometimes defects. Simulation lets us predict all of this before we ever manufacture the actual component. The table summarizes the benefit clearly — without simulation we rely heavily on trial and error and physical testing, but with simulation we can predict distortion and thermal history in advance, which reduces cost and testing.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introduce the actual software we used — MSC Simufact Welding 2024. In simple terms, it is a numerical simulation tool used to study welding processes and their thermal and mechanical effects. It lets us study heat transfer and temperature distribution, thermal cycles, residual stress, distortion, and overall welding process behaviour. The basic idea, shown on the right, is that we take a real welding process and represent it as a numerical model, which is then solved using computational methods to produce engineering results like temperature and stress values. We will insert an actual screenshot of the software interface here once available.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any simulation, we need to feed the software specific input information. This falls into three broad categories: geometry, such as substrate size and number of layers; material properties, like density, thermal conductivity, and yield strength, ideally as functions of temperature; and welding parameters such as current, voltage, welding speed, and heat-source efficiency. The table at the bottom summarizes why each of these inputs matters — for example, the mesh is what converts our geometry into a finite element model that the solver can actually work with.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complete simulation workflow we followed inside MSC Simufact Welding 2024. We start by creating or importing the geometry, then define the material, generate the mesh, and define the heat source. After that we set the deposition or welding path, the process parameters, the thermal boundary conditions, and the mechanical constraints. Once everything is defined, we run the simulation and finally post-process the results. Each of these ten steps builds on the previous one, so getting the early steps right — especially geometry and mesh — is important for accurate results later.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has two parts. First, meshing: the geometry is divided into small finite elements, and a finer mesh generally improves accuracy in regions with high temperature gradients, though it also increases computational cost, so the weld or deposition region usually needs focused mesh refinement rather than refining the whole part. Second, boundary conditions: these include the initial and ambient temperature, convection, radiation, thermal contact between parts, and mechanical constraints such as clamping. Realistic boundary conditions matter a lot because they directly influence how accurately the simulation predicts distortion and residual stress.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what actually happens thermally during the simulation. The heat source starts at the beginning of the path, the material temperature rises, and a molten region develops at the deposition zone. Heat then conducts into the surrounding material, the heat source keeps moving forward, and the material that was heated earlier begins to cool. When multiple layers are deposited, later layers can even reheat the layers below them. On the right we will insert our actual temperature contour and the maximum temperature recorded, along with a temperature-versus-time graph once our simulation results are available — we have not fabricated any values here.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summarizes the key outputs we expect from our simulation — maximum temperature, maximum residual stress, maximum deformation, the cooling and heating cycle, and the final deposition geometry, along with what each one tells us physically. Below that, the discussion points are general trends we expect based on the physics of the process: the highest temperature occurs near the moving heat source, temperature falls off with distance, repeated layers create repeated thermal cycles, and non-uniform cooling drives both residual stress and distortion. We want to be clear that these are expected trends, and we will confirm them against our actual simulation output rather than presenting them as measured results.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deposition welding is a valuable process for material addition, repair, cladding, and additive manufacturing, but it involves complex heating, melting, deposition, and cooling behaviour. MSC Simufact Welding 2024 allows us to numerically study the thermal and mechanical behaviour of this process, and outputs like temperature distribution, residual stress, and deformation help engineers optimize the process before running physical trials. Going forward, the natural next steps are experimental validation of our results, optimizing parameters like current, voltage, and speed, studying multi-layer deposition further, and eventually extending this work toward additive manufacturing. Thank you, and we're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png"/><Relationship Id="rId4"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50C2F98-9EFC-4802-AF68-778738C766C3}"/>
              </a:ext>
            </a:extLst>
          </p:cNvPr>
          <p:cNvSpPr txBox="1">
            <a:spLocks/>
          </p:cNvSpPr>
          <p:nvPr/>
        </p:nvSpPr>
        <p:spPr>
          <a:xfrm>
            <a:off x="838200" y="121929"/>
            <a:ext cx="10515600" cy="147945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b="1" dirty="0">
                <a:latin typeface="Times New Roman" panose="02020603050405020304" pitchFamily="18" charset="0"/>
                <a:cs typeface="Times New Roman" panose="02020603050405020304" pitchFamily="18" charset="0"/>
              </a:rPr>
              <a:t>DEPOSITION  WELDING</a:t>
            </a:r>
          </a:p>
          <a:p>
            <a:r>
              <a:rPr lang="en-IN" sz="4000" b="1" dirty="0">
                <a:latin typeface="Times New Roman" panose="02020603050405020304" pitchFamily="18" charset="0"/>
                <a:cs typeface="Times New Roman" panose="02020603050405020304" pitchFamily="18" charset="0"/>
              </a:rPr>
              <a:t>SIMULATION </a:t>
            </a:r>
          </a:p>
        </p:txBody>
      </p:sp>
      <p:pic>
        <p:nvPicPr>
          <p:cNvPr id="5" name="Picture 4">
            <a:extLst>
              <a:ext uri="{FF2B5EF4-FFF2-40B4-BE49-F238E27FC236}">
                <a16:creationId xmlns:a16="http://schemas.microsoft.com/office/drawing/2014/main" id="{AC026EFE-922E-5CF6-15EC-9651CA04CC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3500" y="1844576"/>
            <a:ext cx="1905000" cy="1905000"/>
          </a:xfrm>
          <a:prstGeom prst="rect">
            <a:avLst/>
          </a:prstGeom>
        </p:spPr>
      </p:pic>
      <p:sp>
        <p:nvSpPr>
          <p:cNvPr id="7" name="TextBox 6">
            <a:extLst>
              <a:ext uri="{FF2B5EF4-FFF2-40B4-BE49-F238E27FC236}">
                <a16:creationId xmlns:a16="http://schemas.microsoft.com/office/drawing/2014/main" id="{43D7870D-4703-EF93-8B1E-D051CE021A60}"/>
              </a:ext>
            </a:extLst>
          </p:cNvPr>
          <p:cNvSpPr txBox="1"/>
          <p:nvPr/>
        </p:nvSpPr>
        <p:spPr>
          <a:xfrm>
            <a:off x="386548" y="3749576"/>
            <a:ext cx="11582400" cy="2246769"/>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Research Project - I (ME071601)</a:t>
            </a:r>
          </a:p>
          <a:p>
            <a:pPr algn="ctr"/>
            <a:endParaRPr lang="en-US" sz="2000" b="1" dirty="0">
              <a:latin typeface="Times New Roman" panose="02020603050405020304" pitchFamily="18" charset="0"/>
              <a:cs typeface="Times New Roman" panose="02020603050405020304" pitchFamily="18" charset="0"/>
            </a:endParaRPr>
          </a:p>
          <a:p>
            <a:pPr algn="ctr"/>
            <a:r>
              <a:rPr lang="en-US" sz="2000" dirty="0">
                <a:latin typeface="Times New Roman" panose="02020603050405020304" pitchFamily="18" charset="0"/>
                <a:cs typeface="Times New Roman" panose="02020603050405020304" pitchFamily="18" charset="0"/>
              </a:rPr>
              <a:t>Department of Mechanical Engineering </a:t>
            </a:r>
          </a:p>
          <a:p>
            <a:pPr algn="ctr"/>
            <a:r>
              <a:rPr lang="en-US" sz="2000" b="1" dirty="0">
                <a:latin typeface="Times New Roman" panose="02020603050405020304" pitchFamily="18" charset="0"/>
                <a:cs typeface="Times New Roman" panose="02020603050405020304" pitchFamily="18" charset="0"/>
              </a:rPr>
              <a:t>National Institute Of Technology Patna</a:t>
            </a:r>
          </a:p>
          <a:p>
            <a:pPr algn="ctr"/>
            <a:r>
              <a:rPr lang="en-US" sz="2000" dirty="0">
                <a:latin typeface="Times New Roman" panose="02020603050405020304" pitchFamily="18" charset="0"/>
                <a:cs typeface="Times New Roman" panose="02020603050405020304" pitchFamily="18" charset="0"/>
              </a:rPr>
              <a:t> September 2026</a:t>
            </a:r>
          </a:p>
          <a:p>
            <a:pPr algn="ctr"/>
            <a:r>
              <a:rPr lang="en-US" sz="2000" dirty="0">
                <a:latin typeface="Times New Roman" panose="02020603050405020304" pitchFamily="18" charset="0"/>
                <a:cs typeface="Times New Roman" panose="02020603050405020304" pitchFamily="18" charset="0"/>
              </a:rPr>
              <a:t>   </a:t>
            </a:r>
          </a:p>
          <a:p>
            <a:pPr algn="ct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1A93E24-BF48-1A86-06EC-47ADB9A20333}"/>
              </a:ext>
            </a:extLst>
          </p:cNvPr>
          <p:cNvSpPr txBox="1"/>
          <p:nvPr/>
        </p:nvSpPr>
        <p:spPr>
          <a:xfrm>
            <a:off x="838200" y="5327211"/>
            <a:ext cx="3676650" cy="123110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Presented By:</a:t>
            </a:r>
            <a:endParaRPr lang="en-US" sz="16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SHARANSH (2301090)</a:t>
            </a:r>
          </a:p>
          <a:p>
            <a:r>
              <a:rPr lang="en-US" dirty="0">
                <a:latin typeface="Times New Roman" panose="02020603050405020304" pitchFamily="18" charset="0"/>
                <a:cs typeface="Times New Roman" panose="02020603050405020304" pitchFamily="18" charset="0"/>
              </a:rPr>
              <a:t>GAURAV KUMAR(2301089)</a:t>
            </a:r>
          </a:p>
          <a:p>
            <a:r>
              <a:rPr lang="en-US" dirty="0">
                <a:latin typeface="Times New Roman" panose="02020603050405020304" pitchFamily="18" charset="0"/>
                <a:cs typeface="Times New Roman" panose="02020603050405020304" pitchFamily="18" charset="0"/>
              </a:rPr>
              <a:t>AKANKSHA SHARMA (2301093)</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3EDC4DBF-03D9-7757-42AD-1A1B57898EB5}"/>
              </a:ext>
            </a:extLst>
          </p:cNvPr>
          <p:cNvSpPr txBox="1"/>
          <p:nvPr/>
        </p:nvSpPr>
        <p:spPr>
          <a:xfrm>
            <a:off x="9287270" y="5327211"/>
            <a:ext cx="2681678"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Supervised By:</a:t>
            </a:r>
          </a:p>
          <a:p>
            <a:r>
              <a:rPr lang="en-US" sz="2000" dirty="0">
                <a:latin typeface="Times New Roman" panose="02020603050405020304" pitchFamily="18" charset="0"/>
                <a:cs typeface="Times New Roman" panose="02020603050405020304" pitchFamily="18" charset="0"/>
              </a:rPr>
              <a:t> Dr. Yogesh Kumar</a:t>
            </a:r>
          </a:p>
        </p:txBody>
      </p:sp>
    </p:spTree>
    <p:extLst>
      <p:ext uri="{BB962C8B-B14F-4D97-AF65-F5344CB8AC3E}">
        <p14:creationId xmlns:p14="http://schemas.microsoft.com/office/powerpoint/2010/main" val="553787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7"/>
        </a:solidFill>
        <a:effectLst/>
      </p:bgPr>
    </p:bg>
    <p:spTree>
      <p:nvGrpSpPr>
        <p:cNvPr id="1" name=""/>
        <p:cNvGrpSpPr/>
        <p:nvPr/>
      </p:nvGrpSpPr>
      <p:grpSpPr>
        <a:xfrm>
          <a:off x="0" y="0"/>
          <a:ext cx="0" cy="0"/>
          <a:chOff x="0" y="0"/>
          <a:chExt cx="0" cy="0"/>
        </a:xfrm>
      </p:grpSpPr>
      <p:sp>
        <p:nvSpPr>
          <p:cNvPr id="3" name="Text 1"/>
          <p:cNvSpPr/>
          <p:nvPr/>
        </p:nvSpPr>
        <p:spPr>
          <a:xfrm>
            <a:off x="618444" y="1238685"/>
            <a:ext cx="10789920" cy="685800"/>
          </a:xfrm>
          <a:prstGeom prst="rect">
            <a:avLst/>
          </a:prstGeom>
          <a:noFill/>
          <a:ln/>
        </p:spPr>
        <p:txBody>
          <a:bodyPr wrap="square" lIns="0" tIns="0" rIns="0" bIns="0" rtlCol="0" anchor="ctr"/>
          <a:lstStyle/>
          <a:p>
            <a:pPr marL="0" indent="0" algn="ctr">
              <a:buNone/>
            </a:pPr>
            <a:r>
              <a:rPr lang="en-US" sz="3000" b="1" dirty="0">
                <a:solidFill>
                  <a:srgbClr val="16232E"/>
                </a:solidFill>
                <a:latin typeface="Times New Roman" panose="02020603050405020304" pitchFamily="18" charset="0"/>
                <a:ea typeface="Cambria" pitchFamily="34" charset="-122"/>
                <a:cs typeface="Times New Roman" panose="02020603050405020304" pitchFamily="18" charset="0"/>
              </a:rPr>
              <a:t>What is Deposition Welding?</a:t>
            </a:r>
            <a:endParaRPr lang="en-US" sz="3000" dirty="0">
              <a:latin typeface="Times New Roman" panose="02020603050405020304" pitchFamily="18" charset="0"/>
              <a:cs typeface="Times New Roman" panose="02020603050405020304" pitchFamily="18" charset="0"/>
            </a:endParaRPr>
          </a:p>
        </p:txBody>
      </p:sp>
      <p:sp>
        <p:nvSpPr>
          <p:cNvPr id="5" name="Shape 3"/>
          <p:cNvSpPr/>
          <p:nvPr/>
        </p:nvSpPr>
        <p:spPr>
          <a:xfrm>
            <a:off x="5461902" y="2702561"/>
            <a:ext cx="3159925" cy="2897464"/>
          </a:xfrm>
          <a:prstGeom prst="roundRect">
            <a:avLst>
              <a:gd name="adj" fmla="val 5161"/>
            </a:avLst>
          </a:prstGeom>
          <a:solidFill>
            <a:srgbClr val="FFFFFF"/>
          </a:solidFill>
          <a:ln w="12700">
            <a:solidFill>
              <a:srgbClr val="C7D2DB"/>
            </a:solidFill>
            <a:prstDash val="solid"/>
          </a:ln>
          <a:effectLst>
            <a:outerShdw blurRad="101600" dist="25400" dir="5400000" algn="bl" rotWithShape="0">
              <a:srgbClr val="16232E">
                <a:alpha val="12000"/>
              </a:srgbClr>
            </a:outerShdw>
          </a:effectLst>
        </p:spPr>
        <p:txBody>
          <a:bodyPr/>
          <a:lstStyle/>
          <a:p>
            <a:endParaRPr lang="en-IN" dirty="0"/>
          </a:p>
        </p:txBody>
      </p:sp>
      <p:sp>
        <p:nvSpPr>
          <p:cNvPr id="6" name="Text 4"/>
          <p:cNvSpPr/>
          <p:nvPr/>
        </p:nvSpPr>
        <p:spPr>
          <a:xfrm>
            <a:off x="5674508" y="2516670"/>
            <a:ext cx="2869321" cy="2733869"/>
          </a:xfrm>
          <a:prstGeom prst="rect">
            <a:avLst/>
          </a:prstGeom>
          <a:noFill/>
          <a:ln/>
        </p:spPr>
        <p:txBody>
          <a:bodyPr wrap="square" lIns="0" tIns="0" rIns="0" bIns="0" rtlCol="0" anchor="ctr"/>
          <a:lstStyle/>
          <a:p>
            <a:pPr marL="0" indent="0" algn="just">
              <a:buNone/>
            </a:pPr>
            <a:r>
              <a:rPr lang="en-US" sz="2000" dirty="0">
                <a:solidFill>
                  <a:srgbClr val="16232E"/>
                </a:solidFill>
                <a:latin typeface="Times New Roman" panose="02020603050405020304" pitchFamily="18" charset="0"/>
                <a:ea typeface="Calibri" pitchFamily="34" charset="-122"/>
                <a:cs typeface="Times New Roman" panose="02020603050405020304" pitchFamily="18" charset="0"/>
              </a:rPr>
              <a:t>Deposition welding is a process in which material is melted and deposited onto a base material, building up a new layer or restoring an existing component.</a:t>
            </a:r>
            <a:endParaRPr lang="en-US" sz="2000" dirty="0">
              <a:latin typeface="Times New Roman" panose="02020603050405020304" pitchFamily="18" charset="0"/>
              <a:cs typeface="Times New Roman" panose="02020603050405020304" pitchFamily="18" charset="0"/>
            </a:endParaRPr>
          </a:p>
        </p:txBody>
      </p:sp>
      <p:sp>
        <p:nvSpPr>
          <p:cNvPr id="7" name="Text 5"/>
          <p:cNvSpPr/>
          <p:nvPr/>
        </p:nvSpPr>
        <p:spPr>
          <a:xfrm>
            <a:off x="548640" y="3154680"/>
            <a:ext cx="4572000" cy="274320"/>
          </a:xfrm>
          <a:prstGeom prst="rect">
            <a:avLst/>
          </a:prstGeom>
          <a:noFill/>
          <a:ln/>
        </p:spPr>
        <p:txBody>
          <a:bodyPr wrap="square" lIns="0" tIns="0" rIns="0" bIns="0" rtlCol="0" anchor="ctr"/>
          <a:lstStyle/>
          <a:p>
            <a:pPr marL="0" indent="0">
              <a:buNone/>
            </a:pPr>
            <a:endParaRPr lang="en-US" sz="1100" dirty="0">
              <a:latin typeface="Times New Roman" panose="02020603050405020304" pitchFamily="18" charset="0"/>
              <a:cs typeface="Times New Roman" panose="02020603050405020304" pitchFamily="18" charset="0"/>
            </a:endParaRPr>
          </a:p>
        </p:txBody>
      </p:sp>
      <p:sp>
        <p:nvSpPr>
          <p:cNvPr id="8" name="Text 6"/>
          <p:cNvSpPr/>
          <p:nvPr/>
        </p:nvSpPr>
        <p:spPr>
          <a:xfrm>
            <a:off x="548640" y="3474720"/>
            <a:ext cx="5303520" cy="3017520"/>
          </a:xfrm>
          <a:prstGeom prst="rect">
            <a:avLst/>
          </a:prstGeom>
          <a:noFill/>
          <a:ln/>
        </p:spPr>
        <p:txBody>
          <a:bodyPr wrap="square" lIns="0" tIns="0" rIns="0" bIns="0" rtlCol="0" anchor="t"/>
          <a:lstStyle/>
          <a:p>
            <a:pPr marL="228600" indent="-228600">
              <a:spcAft>
                <a:spcPts val="1000"/>
              </a:spcAft>
              <a:buSzPct val="100000"/>
              <a:buChar char="▪"/>
            </a:pPr>
            <a:endParaRPr lang="en-US" sz="1300" dirty="0">
              <a:latin typeface="Times New Roman" panose="02020603050405020304" pitchFamily="18" charset="0"/>
              <a:cs typeface="Times New Roman" panose="02020603050405020304" pitchFamily="18" charset="0"/>
            </a:endParaRPr>
          </a:p>
        </p:txBody>
      </p:sp>
      <p:sp>
        <p:nvSpPr>
          <p:cNvPr id="9" name="Shape 7"/>
          <p:cNvSpPr/>
          <p:nvPr/>
        </p:nvSpPr>
        <p:spPr>
          <a:xfrm>
            <a:off x="8677469" y="2043404"/>
            <a:ext cx="2912170" cy="3982492"/>
          </a:xfrm>
          <a:prstGeom prst="roundRect">
            <a:avLst>
              <a:gd name="adj" fmla="val 2174"/>
            </a:avLst>
          </a:prstGeom>
          <a:solidFill>
            <a:srgbClr val="FFFFFF"/>
          </a:solidFill>
          <a:ln w="12700">
            <a:solidFill>
              <a:srgbClr val="C7D2DB"/>
            </a:solidFill>
            <a:prstDash val="solid"/>
          </a:ln>
          <a:effectLst>
            <a:outerShdw blurRad="101600" dist="25400" dir="5400000" algn="bl" rotWithShape="0">
              <a:srgbClr val="16232E">
                <a:alpha val="12000"/>
              </a:srgbClr>
            </a:outerShdw>
          </a:effectLst>
        </p:spPr>
      </p:sp>
      <p:sp>
        <p:nvSpPr>
          <p:cNvPr id="10" name="Text 8"/>
          <p:cNvSpPr/>
          <p:nvPr/>
        </p:nvSpPr>
        <p:spPr>
          <a:xfrm>
            <a:off x="8738408" y="2163432"/>
            <a:ext cx="2600152" cy="259728"/>
          </a:xfrm>
          <a:prstGeom prst="rect">
            <a:avLst/>
          </a:prstGeom>
          <a:noFill/>
          <a:ln/>
        </p:spPr>
        <p:txBody>
          <a:bodyPr wrap="square" lIns="0" tIns="0" rIns="0" bIns="0" rtlCol="0" anchor="ctr"/>
          <a:lstStyle/>
          <a:p>
            <a:pPr marL="0" indent="0" algn="ctr">
              <a:buNone/>
            </a:pPr>
            <a:r>
              <a:rPr lang="en-US" sz="1600" b="1" kern="0" spc="100" dirty="0">
                <a:solidFill>
                  <a:srgbClr val="3A5068"/>
                </a:solidFill>
                <a:latin typeface="Times New Roman" panose="02020603050405020304" pitchFamily="18" charset="0"/>
                <a:ea typeface="Calibri" pitchFamily="34" charset="-122"/>
                <a:cs typeface="Times New Roman" panose="02020603050405020304" pitchFamily="18" charset="0"/>
              </a:rPr>
              <a:t>PROCESS SEQUENCE</a:t>
            </a:r>
            <a:endParaRPr lang="en-US" sz="1600" dirty="0">
              <a:latin typeface="Times New Roman" panose="02020603050405020304" pitchFamily="18" charset="0"/>
              <a:cs typeface="Times New Roman" panose="02020603050405020304" pitchFamily="18" charset="0"/>
            </a:endParaRPr>
          </a:p>
        </p:txBody>
      </p:sp>
      <p:sp>
        <p:nvSpPr>
          <p:cNvPr id="11" name="Shape 9"/>
          <p:cNvSpPr/>
          <p:nvPr/>
        </p:nvSpPr>
        <p:spPr>
          <a:xfrm>
            <a:off x="8875568" y="2629388"/>
            <a:ext cx="2600152" cy="415564"/>
          </a:xfrm>
          <a:prstGeom prst="roundRect">
            <a:avLst>
              <a:gd name="adj" fmla="val 14583"/>
            </a:avLst>
          </a:prstGeom>
          <a:solidFill>
            <a:srgbClr val="3A5068"/>
          </a:solidFill>
          <a:ln/>
        </p:spPr>
      </p:sp>
      <p:sp>
        <p:nvSpPr>
          <p:cNvPr id="12" name="Text 10"/>
          <p:cNvSpPr/>
          <p:nvPr/>
        </p:nvSpPr>
        <p:spPr>
          <a:xfrm>
            <a:off x="8808212" y="2629388"/>
            <a:ext cx="2600152" cy="415564"/>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Heat Source</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9923676" y="3032112"/>
            <a:ext cx="208012" cy="259728"/>
          </a:xfrm>
          <a:prstGeom prst="rect">
            <a:avLst/>
          </a:prstGeom>
          <a:noFill/>
          <a:ln/>
        </p:spPr>
        <p:txBody>
          <a:bodyPr wrap="square" lIns="0" tIns="0" rIns="0" bIns="0" rtlCol="0" anchor="ctr"/>
          <a:lstStyle/>
          <a:p>
            <a:pPr marL="0" indent="0" algn="ctr">
              <a:buNone/>
            </a:pPr>
            <a:r>
              <a:rPr lang="en-US" sz="3200" b="1" dirty="0">
                <a:solidFill>
                  <a:srgbClr val="F2A93B"/>
                </a:solidFill>
                <a:latin typeface="Times New Roman" panose="02020603050405020304" pitchFamily="18" charset="0"/>
                <a:ea typeface="Calibri" pitchFamily="34" charset="-122"/>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
        <p:nvSpPr>
          <p:cNvPr id="14" name="Shape 12"/>
          <p:cNvSpPr/>
          <p:nvPr/>
        </p:nvSpPr>
        <p:spPr>
          <a:xfrm>
            <a:off x="8875568" y="3251180"/>
            <a:ext cx="2600152" cy="415564"/>
          </a:xfrm>
          <a:prstGeom prst="roundRect">
            <a:avLst>
              <a:gd name="adj" fmla="val 14583"/>
            </a:avLst>
          </a:prstGeom>
          <a:solidFill>
            <a:srgbClr val="3A5068"/>
          </a:solidFill>
          <a:ln/>
        </p:spPr>
      </p:sp>
      <p:sp>
        <p:nvSpPr>
          <p:cNvPr id="15" name="Text 13"/>
          <p:cNvSpPr/>
          <p:nvPr/>
        </p:nvSpPr>
        <p:spPr>
          <a:xfrm>
            <a:off x="8738408" y="3251180"/>
            <a:ext cx="2600152" cy="415564"/>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Melting</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9900276" y="3623877"/>
            <a:ext cx="208012" cy="259728"/>
          </a:xfrm>
          <a:prstGeom prst="rect">
            <a:avLst/>
          </a:prstGeom>
          <a:noFill/>
          <a:ln/>
        </p:spPr>
        <p:txBody>
          <a:bodyPr wrap="square" lIns="0" tIns="0" rIns="0" bIns="0" rtlCol="0" anchor="ctr"/>
          <a:lstStyle/>
          <a:p>
            <a:pPr marL="0" indent="0" algn="ctr">
              <a:buNone/>
            </a:pPr>
            <a:r>
              <a:rPr lang="en-US" sz="3200" b="1" dirty="0">
                <a:solidFill>
                  <a:srgbClr val="F2A93B"/>
                </a:solidFill>
                <a:latin typeface="Times New Roman" panose="02020603050405020304" pitchFamily="18" charset="0"/>
                <a:ea typeface="Calibri" pitchFamily="34" charset="-122"/>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
        <p:nvSpPr>
          <p:cNvPr id="17" name="Shape 15"/>
          <p:cNvSpPr/>
          <p:nvPr/>
        </p:nvSpPr>
        <p:spPr>
          <a:xfrm>
            <a:off x="8875568" y="3872972"/>
            <a:ext cx="2600152" cy="415564"/>
          </a:xfrm>
          <a:prstGeom prst="roundRect">
            <a:avLst>
              <a:gd name="adj" fmla="val 14583"/>
            </a:avLst>
          </a:prstGeom>
          <a:solidFill>
            <a:srgbClr val="3A5068"/>
          </a:solidFill>
          <a:ln/>
        </p:spPr>
      </p:sp>
      <p:sp>
        <p:nvSpPr>
          <p:cNvPr id="18" name="Text 16"/>
          <p:cNvSpPr/>
          <p:nvPr/>
        </p:nvSpPr>
        <p:spPr>
          <a:xfrm>
            <a:off x="8738408" y="3872972"/>
            <a:ext cx="2600152" cy="415564"/>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Material Deposition</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9934478" y="4250421"/>
            <a:ext cx="208012" cy="259728"/>
          </a:xfrm>
          <a:prstGeom prst="rect">
            <a:avLst/>
          </a:prstGeom>
          <a:noFill/>
          <a:ln/>
        </p:spPr>
        <p:txBody>
          <a:bodyPr wrap="square" lIns="0" tIns="0" rIns="0" bIns="0" rtlCol="0" anchor="ctr"/>
          <a:lstStyle/>
          <a:p>
            <a:pPr marL="0" indent="0" algn="ctr">
              <a:buNone/>
            </a:pPr>
            <a:r>
              <a:rPr lang="en-US" sz="3200" b="1" dirty="0">
                <a:solidFill>
                  <a:srgbClr val="F2A93B"/>
                </a:solidFill>
                <a:latin typeface="Times New Roman" panose="02020603050405020304" pitchFamily="18" charset="0"/>
                <a:ea typeface="Calibri" pitchFamily="34" charset="-122"/>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
        <p:nvSpPr>
          <p:cNvPr id="20" name="Shape 18"/>
          <p:cNvSpPr/>
          <p:nvPr/>
        </p:nvSpPr>
        <p:spPr>
          <a:xfrm>
            <a:off x="8875568" y="4505254"/>
            <a:ext cx="2600152" cy="415564"/>
          </a:xfrm>
          <a:prstGeom prst="roundRect">
            <a:avLst>
              <a:gd name="adj" fmla="val 14583"/>
            </a:avLst>
          </a:prstGeom>
          <a:solidFill>
            <a:srgbClr val="3A5068"/>
          </a:solidFill>
          <a:ln/>
        </p:spPr>
      </p:sp>
      <p:sp>
        <p:nvSpPr>
          <p:cNvPr id="21" name="Text 19"/>
          <p:cNvSpPr/>
          <p:nvPr/>
        </p:nvSpPr>
        <p:spPr>
          <a:xfrm>
            <a:off x="8738408" y="4494764"/>
            <a:ext cx="2600152" cy="415564"/>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Solidification</a:t>
            </a:r>
            <a:endParaRPr lang="en-US" dirty="0">
              <a:latin typeface="Times New Roman" panose="02020603050405020304" pitchFamily="18" charset="0"/>
              <a:cs typeface="Times New Roman" panose="02020603050405020304" pitchFamily="18" charset="0"/>
            </a:endParaRPr>
          </a:p>
        </p:txBody>
      </p:sp>
      <p:sp>
        <p:nvSpPr>
          <p:cNvPr id="22" name="Text 20"/>
          <p:cNvSpPr/>
          <p:nvPr/>
        </p:nvSpPr>
        <p:spPr>
          <a:xfrm>
            <a:off x="9900276" y="4883578"/>
            <a:ext cx="208012" cy="259728"/>
          </a:xfrm>
          <a:prstGeom prst="rect">
            <a:avLst/>
          </a:prstGeom>
          <a:noFill/>
          <a:ln/>
        </p:spPr>
        <p:txBody>
          <a:bodyPr wrap="square" lIns="0" tIns="0" rIns="0" bIns="0" rtlCol="0" anchor="ctr"/>
          <a:lstStyle/>
          <a:p>
            <a:pPr marL="0" indent="0" algn="ctr">
              <a:buNone/>
            </a:pPr>
            <a:r>
              <a:rPr lang="en-US" sz="3200" b="1" dirty="0">
                <a:solidFill>
                  <a:srgbClr val="F2A93B"/>
                </a:solidFill>
                <a:latin typeface="Times New Roman" panose="02020603050405020304" pitchFamily="18" charset="0"/>
                <a:ea typeface="Calibri" pitchFamily="34" charset="-122"/>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
        <p:nvSpPr>
          <p:cNvPr id="23" name="Shape 21"/>
          <p:cNvSpPr/>
          <p:nvPr/>
        </p:nvSpPr>
        <p:spPr>
          <a:xfrm>
            <a:off x="8875568" y="5106066"/>
            <a:ext cx="2600152" cy="415564"/>
          </a:xfrm>
          <a:prstGeom prst="roundRect">
            <a:avLst>
              <a:gd name="adj" fmla="val 14583"/>
            </a:avLst>
          </a:prstGeom>
          <a:solidFill>
            <a:srgbClr val="F2A93B"/>
          </a:solidFill>
          <a:ln/>
        </p:spPr>
      </p:sp>
      <p:sp>
        <p:nvSpPr>
          <p:cNvPr id="24" name="Text 22"/>
          <p:cNvSpPr/>
          <p:nvPr/>
        </p:nvSpPr>
        <p:spPr>
          <a:xfrm>
            <a:off x="8738408" y="5116556"/>
            <a:ext cx="2600152" cy="415564"/>
          </a:xfrm>
          <a:prstGeom prst="rect">
            <a:avLst/>
          </a:prstGeom>
          <a:noFill/>
          <a:ln/>
        </p:spPr>
        <p:txBody>
          <a:bodyPr wrap="square" lIns="0" tIns="0" rIns="0" bIns="0" rtlCol="0" anchor="ctr"/>
          <a:lstStyle/>
          <a:p>
            <a:pPr marL="0" indent="0" algn="ctr">
              <a:buNone/>
            </a:pPr>
            <a:r>
              <a:rPr lang="en-US" b="1" dirty="0">
                <a:solidFill>
                  <a:srgbClr val="16232E"/>
                </a:solidFill>
                <a:latin typeface="Times New Roman" panose="02020603050405020304" pitchFamily="18" charset="0"/>
                <a:ea typeface="Calibri" pitchFamily="34" charset="-122"/>
                <a:cs typeface="Times New Roman" panose="02020603050405020304" pitchFamily="18" charset="0"/>
              </a:rPr>
              <a:t>New Layer</a:t>
            </a:r>
            <a:endParaRPr lang="en-US" dirty="0">
              <a:latin typeface="Times New Roman" panose="02020603050405020304" pitchFamily="18" charset="0"/>
              <a:cs typeface="Times New Roman" panose="02020603050405020304" pitchFamily="18" charset="0"/>
            </a:endParaRPr>
          </a:p>
        </p:txBody>
      </p:sp>
      <p:sp>
        <p:nvSpPr>
          <p:cNvPr id="26" name="Text 24"/>
          <p:cNvSpPr/>
          <p:nvPr/>
        </p:nvSpPr>
        <p:spPr>
          <a:xfrm>
            <a:off x="11277295" y="6473952"/>
            <a:ext cx="548640" cy="274320"/>
          </a:xfrm>
          <a:prstGeom prst="rect">
            <a:avLst/>
          </a:prstGeom>
          <a:noFill/>
          <a:ln/>
        </p:spPr>
        <p:txBody>
          <a:bodyPr wrap="square" lIns="0" tIns="0" rIns="0" bIns="0" rtlCol="0" anchor="ctr"/>
          <a:lstStyle/>
          <a:p>
            <a:pPr marL="0" indent="0" algn="r">
              <a:buNone/>
            </a:pPr>
            <a:endParaRPr lang="en-US" sz="900" dirty="0">
              <a:latin typeface="Times New Roman" panose="02020603050405020304" pitchFamily="18" charset="0"/>
              <a:cs typeface="Times New Roman" panose="02020603050405020304" pitchFamily="18" charset="0"/>
            </a:endParaRPr>
          </a:p>
        </p:txBody>
      </p:sp>
      <p:pic>
        <p:nvPicPr>
          <p:cNvPr id="33" name="Picture 32">
            <a:extLst>
              <a:ext uri="{FF2B5EF4-FFF2-40B4-BE49-F238E27FC236}">
                <a16:creationId xmlns:a16="http://schemas.microsoft.com/office/drawing/2014/main" id="{444F2DFB-C088-7D5A-B6AB-8BCDEB744D68}"/>
              </a:ext>
            </a:extLst>
          </p:cNvPr>
          <p:cNvPicPr>
            <a:picLocks noChangeAspect="1"/>
          </p:cNvPicPr>
          <p:nvPr/>
        </p:nvPicPr>
        <p:blipFill>
          <a:blip r:embed="rId3"/>
          <a:stretch>
            <a:fillRect/>
          </a:stretch>
        </p:blipFill>
        <p:spPr>
          <a:xfrm>
            <a:off x="182070" y="2423160"/>
            <a:ext cx="5058566" cy="3997899"/>
          </a:xfrm>
          <a:prstGeom prst="rect">
            <a:avLst/>
          </a:prstGeom>
        </p:spPr>
      </p:pic>
      <p:sp>
        <p:nvSpPr>
          <p:cNvPr id="4" name="TextBox 3">
            <a:extLst>
              <a:ext uri="{FF2B5EF4-FFF2-40B4-BE49-F238E27FC236}">
                <a16:creationId xmlns:a16="http://schemas.microsoft.com/office/drawing/2014/main" id="{508C7979-402C-0153-15A5-7C379E102A47}"/>
              </a:ext>
            </a:extLst>
          </p:cNvPr>
          <p:cNvSpPr txBox="1"/>
          <p:nvPr/>
        </p:nvSpPr>
        <p:spPr>
          <a:xfrm>
            <a:off x="396240" y="264160"/>
            <a:ext cx="11724640" cy="1107996"/>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AIM   -</a:t>
            </a:r>
            <a:r>
              <a:rPr lang="en-US" sz="2400" dirty="0">
                <a:latin typeface="Times New Roman" panose="02020603050405020304" pitchFamily="18" charset="0"/>
                <a:cs typeface="Times New Roman" panose="02020603050405020304" pitchFamily="18" charset="0"/>
              </a:rPr>
              <a:t> To simulate the Deposition process, and study its thermal and mechanical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during multi-layer material deposition.</a:t>
            </a:r>
            <a:endParaRPr lang="en-IN" sz="24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7"/>
        </a:solidFill>
        <a:effectLst/>
      </p:bgPr>
    </p:bg>
    <p:spTree>
      <p:nvGrpSpPr>
        <p:cNvPr id="1" name=""/>
        <p:cNvGrpSpPr/>
        <p:nvPr/>
      </p:nvGrpSpPr>
      <p:grpSpPr>
        <a:xfrm>
          <a:off x="0" y="0"/>
          <a:ext cx="0" cy="0"/>
          <a:chOff x="0" y="0"/>
          <a:chExt cx="0" cy="0"/>
        </a:xfrm>
      </p:grpSpPr>
      <p:sp>
        <p:nvSpPr>
          <p:cNvPr id="3" name="Text 1"/>
          <p:cNvSpPr/>
          <p:nvPr/>
        </p:nvSpPr>
        <p:spPr>
          <a:xfrm>
            <a:off x="548640" y="566928"/>
            <a:ext cx="10789920" cy="685800"/>
          </a:xfrm>
          <a:prstGeom prst="rect">
            <a:avLst/>
          </a:prstGeom>
          <a:noFill/>
          <a:ln/>
        </p:spPr>
        <p:txBody>
          <a:bodyPr wrap="square" lIns="0" tIns="0" rIns="0" bIns="0" rtlCol="0" anchor="ctr"/>
          <a:lstStyle/>
          <a:p>
            <a:pPr marL="0" indent="0" algn="ctr">
              <a:buNone/>
            </a:pPr>
            <a:r>
              <a:rPr lang="en-US" sz="3000" b="1" dirty="0">
                <a:solidFill>
                  <a:srgbClr val="16232E"/>
                </a:solidFill>
                <a:latin typeface="Cambria" pitchFamily="34" charset="0"/>
                <a:ea typeface="Cambria" pitchFamily="34" charset="-122"/>
                <a:cs typeface="Cambria" pitchFamily="34" charset="-120"/>
              </a:rPr>
              <a:t>How Deposition Welding Works ?</a:t>
            </a:r>
            <a:endParaRPr lang="en-US" sz="3000" dirty="0"/>
          </a:p>
        </p:txBody>
      </p:sp>
      <p:sp>
        <p:nvSpPr>
          <p:cNvPr id="5" name="Shape 3"/>
          <p:cNvSpPr/>
          <p:nvPr/>
        </p:nvSpPr>
        <p:spPr>
          <a:xfrm>
            <a:off x="548640" y="1554480"/>
            <a:ext cx="5212080" cy="777240"/>
          </a:xfrm>
          <a:prstGeom prst="roundRect">
            <a:avLst>
              <a:gd name="adj" fmla="val 10588"/>
            </a:avLst>
          </a:prstGeom>
          <a:solidFill>
            <a:srgbClr val="FFFFFF"/>
          </a:solidFill>
          <a:ln w="12700">
            <a:solidFill>
              <a:srgbClr val="C7D2DB"/>
            </a:solidFill>
            <a:prstDash val="solid"/>
          </a:ln>
          <a:effectLst>
            <a:outerShdw blurRad="76200" dist="25400" dir="5400000" algn="bl" rotWithShape="0">
              <a:srgbClr val="1B2A38">
                <a:alpha val="15000"/>
              </a:srgbClr>
            </a:outerShdw>
          </a:effectLst>
        </p:spPr>
      </p:sp>
      <p:sp>
        <p:nvSpPr>
          <p:cNvPr id="6" name="Shape 4"/>
          <p:cNvSpPr/>
          <p:nvPr/>
        </p:nvSpPr>
        <p:spPr>
          <a:xfrm>
            <a:off x="685800" y="1741932"/>
            <a:ext cx="402336" cy="402336"/>
          </a:xfrm>
          <a:prstGeom prst="ellipse">
            <a:avLst/>
          </a:prstGeom>
          <a:solidFill>
            <a:srgbClr val="3A5068"/>
          </a:solidFill>
          <a:ln/>
        </p:spPr>
      </p:sp>
      <p:sp>
        <p:nvSpPr>
          <p:cNvPr id="7" name="Text 5"/>
          <p:cNvSpPr/>
          <p:nvPr/>
        </p:nvSpPr>
        <p:spPr>
          <a:xfrm>
            <a:off x="685800" y="1741932"/>
            <a:ext cx="402336" cy="40233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207008" y="1627632"/>
            <a:ext cx="4389120" cy="630936"/>
          </a:xfrm>
          <a:prstGeom prst="rect">
            <a:avLst/>
          </a:prstGeom>
          <a:noFill/>
          <a:ln/>
        </p:spPr>
        <p:txBody>
          <a:bodyPr wrap="square" lIns="0" tIns="0" rIns="0" bIns="0" rtlCol="0" anchor="ctr"/>
          <a:lstStyle/>
          <a:p>
            <a:pPr marL="0" indent="0">
              <a:buNone/>
            </a:pPr>
            <a:r>
              <a:rPr lang="en-US" sz="1600" dirty="0">
                <a:solidFill>
                  <a:srgbClr val="16232E"/>
                </a:solidFill>
                <a:latin typeface="Calibri" pitchFamily="34" charset="0"/>
                <a:ea typeface="Calibri" pitchFamily="34" charset="-122"/>
                <a:cs typeface="Calibri" pitchFamily="34" charset="-120"/>
              </a:rPr>
              <a:t>Substrate is prepared (cleaned, positioned, fixtured)</a:t>
            </a:r>
            <a:endParaRPr lang="en-US" sz="1600" dirty="0"/>
          </a:p>
        </p:txBody>
      </p:sp>
      <p:sp>
        <p:nvSpPr>
          <p:cNvPr id="9" name="Shape 7"/>
          <p:cNvSpPr/>
          <p:nvPr/>
        </p:nvSpPr>
        <p:spPr>
          <a:xfrm>
            <a:off x="548640" y="2468880"/>
            <a:ext cx="5212080" cy="777240"/>
          </a:xfrm>
          <a:prstGeom prst="roundRect">
            <a:avLst>
              <a:gd name="adj" fmla="val 10588"/>
            </a:avLst>
          </a:prstGeom>
          <a:solidFill>
            <a:srgbClr val="FFFFFF"/>
          </a:solidFill>
          <a:ln w="12700">
            <a:solidFill>
              <a:srgbClr val="C7D2DB"/>
            </a:solidFill>
            <a:prstDash val="solid"/>
          </a:ln>
          <a:effectLst>
            <a:outerShdw blurRad="76200" dist="25400" dir="5400000" algn="bl" rotWithShape="0">
              <a:srgbClr val="1B2A38">
                <a:alpha val="15000"/>
              </a:srgbClr>
            </a:outerShdw>
          </a:effectLst>
        </p:spPr>
      </p:sp>
      <p:sp>
        <p:nvSpPr>
          <p:cNvPr id="10" name="Shape 8"/>
          <p:cNvSpPr/>
          <p:nvPr/>
        </p:nvSpPr>
        <p:spPr>
          <a:xfrm>
            <a:off x="685800" y="2656332"/>
            <a:ext cx="402336" cy="402336"/>
          </a:xfrm>
          <a:prstGeom prst="ellipse">
            <a:avLst/>
          </a:prstGeom>
          <a:solidFill>
            <a:srgbClr val="3A5068"/>
          </a:solidFill>
          <a:ln/>
        </p:spPr>
      </p:sp>
      <p:sp>
        <p:nvSpPr>
          <p:cNvPr id="11" name="Text 9"/>
          <p:cNvSpPr/>
          <p:nvPr/>
        </p:nvSpPr>
        <p:spPr>
          <a:xfrm>
            <a:off x="685800" y="2656332"/>
            <a:ext cx="402336" cy="40233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1207008" y="2542032"/>
            <a:ext cx="4389120" cy="630936"/>
          </a:xfrm>
          <a:prstGeom prst="rect">
            <a:avLst/>
          </a:prstGeom>
          <a:noFill/>
          <a:ln/>
        </p:spPr>
        <p:txBody>
          <a:bodyPr wrap="square" lIns="0" tIns="0" rIns="0" bIns="0" rtlCol="0" anchor="ctr"/>
          <a:lstStyle/>
          <a:p>
            <a:pPr marL="0" indent="0">
              <a:buNone/>
            </a:pPr>
            <a:r>
              <a:rPr lang="en-US" sz="1600" dirty="0">
                <a:solidFill>
                  <a:srgbClr val="16232E"/>
                </a:solidFill>
                <a:latin typeface="Calibri" pitchFamily="34" charset="0"/>
                <a:ea typeface="Calibri" pitchFamily="34" charset="-122"/>
                <a:cs typeface="Calibri" pitchFamily="34" charset="-120"/>
              </a:rPr>
              <a:t>Heat source generates sufficient heat to melt the deposition material</a:t>
            </a:r>
            <a:endParaRPr lang="en-US" sz="1600" dirty="0"/>
          </a:p>
        </p:txBody>
      </p:sp>
      <p:sp>
        <p:nvSpPr>
          <p:cNvPr id="13" name="Shape 11"/>
          <p:cNvSpPr/>
          <p:nvPr/>
        </p:nvSpPr>
        <p:spPr>
          <a:xfrm>
            <a:off x="548640" y="3383280"/>
            <a:ext cx="5212080" cy="777240"/>
          </a:xfrm>
          <a:prstGeom prst="roundRect">
            <a:avLst>
              <a:gd name="adj" fmla="val 10588"/>
            </a:avLst>
          </a:prstGeom>
          <a:solidFill>
            <a:srgbClr val="FFFFFF"/>
          </a:solidFill>
          <a:ln w="12700">
            <a:solidFill>
              <a:srgbClr val="C7D2DB"/>
            </a:solidFill>
            <a:prstDash val="solid"/>
          </a:ln>
          <a:effectLst>
            <a:outerShdw blurRad="76200" dist="25400" dir="5400000" algn="bl" rotWithShape="0">
              <a:srgbClr val="1B2A38">
                <a:alpha val="15000"/>
              </a:srgbClr>
            </a:outerShdw>
          </a:effectLst>
        </p:spPr>
      </p:sp>
      <p:sp>
        <p:nvSpPr>
          <p:cNvPr id="14" name="Shape 12"/>
          <p:cNvSpPr/>
          <p:nvPr/>
        </p:nvSpPr>
        <p:spPr>
          <a:xfrm>
            <a:off x="685800" y="3570732"/>
            <a:ext cx="402336" cy="402336"/>
          </a:xfrm>
          <a:prstGeom prst="ellipse">
            <a:avLst/>
          </a:prstGeom>
          <a:solidFill>
            <a:srgbClr val="3A5068"/>
          </a:solidFill>
          <a:ln/>
        </p:spPr>
      </p:sp>
      <p:sp>
        <p:nvSpPr>
          <p:cNvPr id="15" name="Text 13"/>
          <p:cNvSpPr/>
          <p:nvPr/>
        </p:nvSpPr>
        <p:spPr>
          <a:xfrm>
            <a:off x="685800" y="3570732"/>
            <a:ext cx="402336" cy="40233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6" name="Text 14"/>
          <p:cNvSpPr/>
          <p:nvPr/>
        </p:nvSpPr>
        <p:spPr>
          <a:xfrm>
            <a:off x="1207008" y="3456432"/>
            <a:ext cx="4389120" cy="630936"/>
          </a:xfrm>
          <a:prstGeom prst="rect">
            <a:avLst/>
          </a:prstGeom>
          <a:noFill/>
          <a:ln/>
        </p:spPr>
        <p:txBody>
          <a:bodyPr wrap="square" lIns="0" tIns="0" rIns="0" bIns="0" rtlCol="0" anchor="ctr"/>
          <a:lstStyle/>
          <a:p>
            <a:pPr marL="0" indent="0">
              <a:buNone/>
            </a:pPr>
            <a:r>
              <a:rPr lang="en-US" sz="1600" dirty="0">
                <a:solidFill>
                  <a:srgbClr val="16232E"/>
                </a:solidFill>
                <a:latin typeface="Calibri" pitchFamily="34" charset="0"/>
                <a:ea typeface="Calibri" pitchFamily="34" charset="-122"/>
                <a:cs typeface="Calibri" pitchFamily="34" charset="-120"/>
              </a:rPr>
              <a:t>Molten material is deposited onto the substrate</a:t>
            </a:r>
            <a:endParaRPr lang="en-US" sz="1600" dirty="0"/>
          </a:p>
        </p:txBody>
      </p:sp>
      <p:sp>
        <p:nvSpPr>
          <p:cNvPr id="17" name="Shape 15"/>
          <p:cNvSpPr/>
          <p:nvPr/>
        </p:nvSpPr>
        <p:spPr>
          <a:xfrm>
            <a:off x="6309360" y="1554480"/>
            <a:ext cx="5212080" cy="777240"/>
          </a:xfrm>
          <a:prstGeom prst="roundRect">
            <a:avLst>
              <a:gd name="adj" fmla="val 10588"/>
            </a:avLst>
          </a:prstGeom>
          <a:solidFill>
            <a:srgbClr val="FFFFFF"/>
          </a:solidFill>
          <a:ln w="12700">
            <a:solidFill>
              <a:srgbClr val="C7D2DB"/>
            </a:solidFill>
            <a:prstDash val="solid"/>
          </a:ln>
          <a:effectLst>
            <a:outerShdw blurRad="76200" dist="25400" dir="5400000" algn="bl" rotWithShape="0">
              <a:srgbClr val="1B2A38">
                <a:alpha val="15000"/>
              </a:srgbClr>
            </a:outerShdw>
          </a:effectLst>
        </p:spPr>
      </p:sp>
      <p:sp>
        <p:nvSpPr>
          <p:cNvPr id="18" name="Shape 16"/>
          <p:cNvSpPr/>
          <p:nvPr/>
        </p:nvSpPr>
        <p:spPr>
          <a:xfrm>
            <a:off x="6446520" y="1741932"/>
            <a:ext cx="402336" cy="402336"/>
          </a:xfrm>
          <a:prstGeom prst="ellipse">
            <a:avLst/>
          </a:prstGeom>
          <a:solidFill>
            <a:srgbClr val="3A5068"/>
          </a:solidFill>
          <a:ln/>
        </p:spPr>
      </p:sp>
      <p:sp>
        <p:nvSpPr>
          <p:cNvPr id="19" name="Text 17"/>
          <p:cNvSpPr/>
          <p:nvPr/>
        </p:nvSpPr>
        <p:spPr>
          <a:xfrm>
            <a:off x="6446520" y="1741932"/>
            <a:ext cx="402336" cy="40233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0" name="Text 18"/>
          <p:cNvSpPr/>
          <p:nvPr/>
        </p:nvSpPr>
        <p:spPr>
          <a:xfrm>
            <a:off x="6967728" y="1627632"/>
            <a:ext cx="4389120" cy="630936"/>
          </a:xfrm>
          <a:prstGeom prst="rect">
            <a:avLst/>
          </a:prstGeom>
          <a:noFill/>
          <a:ln/>
        </p:spPr>
        <p:txBody>
          <a:bodyPr wrap="square" lIns="0" tIns="0" rIns="0" bIns="0" rtlCol="0" anchor="ctr"/>
          <a:lstStyle/>
          <a:p>
            <a:pPr marL="0" indent="0">
              <a:buNone/>
            </a:pPr>
            <a:r>
              <a:rPr lang="en-US" sz="1600" dirty="0">
                <a:solidFill>
                  <a:srgbClr val="16232E"/>
                </a:solidFill>
                <a:latin typeface="Calibri" pitchFamily="34" charset="0"/>
                <a:ea typeface="Calibri" pitchFamily="34" charset="-122"/>
                <a:cs typeface="Calibri" pitchFamily="34" charset="-120"/>
              </a:rPr>
              <a:t>Molten material cools and solidifies</a:t>
            </a:r>
            <a:endParaRPr lang="en-US" sz="1600" dirty="0"/>
          </a:p>
        </p:txBody>
      </p:sp>
      <p:sp>
        <p:nvSpPr>
          <p:cNvPr id="21" name="Shape 19"/>
          <p:cNvSpPr/>
          <p:nvPr/>
        </p:nvSpPr>
        <p:spPr>
          <a:xfrm>
            <a:off x="6309360" y="2468880"/>
            <a:ext cx="5212080" cy="777240"/>
          </a:xfrm>
          <a:prstGeom prst="roundRect">
            <a:avLst>
              <a:gd name="adj" fmla="val 10588"/>
            </a:avLst>
          </a:prstGeom>
          <a:solidFill>
            <a:srgbClr val="FFFFFF"/>
          </a:solidFill>
          <a:ln w="12700">
            <a:solidFill>
              <a:srgbClr val="C7D2DB"/>
            </a:solidFill>
            <a:prstDash val="solid"/>
          </a:ln>
          <a:effectLst>
            <a:outerShdw blurRad="76200" dist="25400" dir="5400000" algn="bl" rotWithShape="0">
              <a:srgbClr val="1B2A38">
                <a:alpha val="15000"/>
              </a:srgbClr>
            </a:outerShdw>
          </a:effectLst>
        </p:spPr>
      </p:sp>
      <p:sp>
        <p:nvSpPr>
          <p:cNvPr id="22" name="Shape 20"/>
          <p:cNvSpPr/>
          <p:nvPr/>
        </p:nvSpPr>
        <p:spPr>
          <a:xfrm>
            <a:off x="6446520" y="2656332"/>
            <a:ext cx="402336" cy="402336"/>
          </a:xfrm>
          <a:prstGeom prst="ellipse">
            <a:avLst/>
          </a:prstGeom>
          <a:solidFill>
            <a:srgbClr val="3A5068"/>
          </a:solidFill>
          <a:ln/>
        </p:spPr>
      </p:sp>
      <p:sp>
        <p:nvSpPr>
          <p:cNvPr id="23" name="Text 21"/>
          <p:cNvSpPr/>
          <p:nvPr/>
        </p:nvSpPr>
        <p:spPr>
          <a:xfrm>
            <a:off x="6446520" y="2656332"/>
            <a:ext cx="402336" cy="40233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4" name="Text 22"/>
          <p:cNvSpPr/>
          <p:nvPr/>
        </p:nvSpPr>
        <p:spPr>
          <a:xfrm>
            <a:off x="6967728" y="2542032"/>
            <a:ext cx="4389120" cy="630936"/>
          </a:xfrm>
          <a:prstGeom prst="rect">
            <a:avLst/>
          </a:prstGeom>
          <a:noFill/>
          <a:ln/>
        </p:spPr>
        <p:txBody>
          <a:bodyPr wrap="square" lIns="0" tIns="0" rIns="0" bIns="0" rtlCol="0" anchor="ctr"/>
          <a:lstStyle/>
          <a:p>
            <a:pPr marL="0" indent="0">
              <a:buNone/>
            </a:pPr>
            <a:r>
              <a:rPr lang="en-US" sz="1600" dirty="0">
                <a:solidFill>
                  <a:srgbClr val="16232E"/>
                </a:solidFill>
                <a:latin typeface="Calibri" pitchFamily="34" charset="0"/>
                <a:ea typeface="Calibri" pitchFamily="34" charset="-122"/>
                <a:cs typeface="Calibri" pitchFamily="34" charset="-120"/>
              </a:rPr>
              <a:t>Heat source moves along the predefined path</a:t>
            </a:r>
            <a:endParaRPr lang="en-US" sz="1600" dirty="0"/>
          </a:p>
        </p:txBody>
      </p:sp>
      <p:sp>
        <p:nvSpPr>
          <p:cNvPr id="25" name="Shape 23"/>
          <p:cNvSpPr/>
          <p:nvPr/>
        </p:nvSpPr>
        <p:spPr>
          <a:xfrm>
            <a:off x="6309360" y="3383280"/>
            <a:ext cx="5212080" cy="777240"/>
          </a:xfrm>
          <a:prstGeom prst="roundRect">
            <a:avLst>
              <a:gd name="adj" fmla="val 10588"/>
            </a:avLst>
          </a:prstGeom>
          <a:solidFill>
            <a:srgbClr val="FFFFFF"/>
          </a:solidFill>
          <a:ln w="12700">
            <a:solidFill>
              <a:srgbClr val="C7D2DB"/>
            </a:solidFill>
            <a:prstDash val="solid"/>
          </a:ln>
          <a:effectLst>
            <a:outerShdw blurRad="76200" dist="25400" dir="5400000" algn="bl" rotWithShape="0">
              <a:srgbClr val="1B2A38">
                <a:alpha val="15000"/>
              </a:srgbClr>
            </a:outerShdw>
          </a:effectLst>
        </p:spPr>
      </p:sp>
      <p:sp>
        <p:nvSpPr>
          <p:cNvPr id="26" name="Shape 24"/>
          <p:cNvSpPr/>
          <p:nvPr/>
        </p:nvSpPr>
        <p:spPr>
          <a:xfrm>
            <a:off x="6446520" y="3570732"/>
            <a:ext cx="402336" cy="402336"/>
          </a:xfrm>
          <a:prstGeom prst="ellipse">
            <a:avLst/>
          </a:prstGeom>
          <a:solidFill>
            <a:srgbClr val="F2A93B"/>
          </a:solidFill>
          <a:ln/>
        </p:spPr>
      </p:sp>
      <p:sp>
        <p:nvSpPr>
          <p:cNvPr id="27" name="Text 25"/>
          <p:cNvSpPr/>
          <p:nvPr/>
        </p:nvSpPr>
        <p:spPr>
          <a:xfrm>
            <a:off x="6446520" y="3570732"/>
            <a:ext cx="402336" cy="402336"/>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8" name="Text 26"/>
          <p:cNvSpPr/>
          <p:nvPr/>
        </p:nvSpPr>
        <p:spPr>
          <a:xfrm>
            <a:off x="6967728" y="3456432"/>
            <a:ext cx="4389120" cy="630936"/>
          </a:xfrm>
          <a:prstGeom prst="rect">
            <a:avLst/>
          </a:prstGeom>
          <a:noFill/>
          <a:ln/>
        </p:spPr>
        <p:txBody>
          <a:bodyPr wrap="square" lIns="0" tIns="0" rIns="0" bIns="0" rtlCol="0" anchor="ctr"/>
          <a:lstStyle/>
          <a:p>
            <a:pPr marL="0" indent="0">
              <a:buNone/>
            </a:pPr>
            <a:r>
              <a:rPr lang="en-US" sz="1600" dirty="0">
                <a:solidFill>
                  <a:srgbClr val="16232E"/>
                </a:solidFill>
                <a:latin typeface="Calibri" pitchFamily="34" charset="0"/>
                <a:ea typeface="Calibri" pitchFamily="34" charset="-122"/>
                <a:cs typeface="Calibri" pitchFamily="34" charset="-120"/>
              </a:rPr>
              <a:t>Additional layers are deposited to build the required geometry</a:t>
            </a:r>
            <a:endParaRPr lang="en-US" sz="1600" dirty="0"/>
          </a:p>
        </p:txBody>
      </p:sp>
      <p:sp>
        <p:nvSpPr>
          <p:cNvPr id="29" name="Shape 27"/>
          <p:cNvSpPr/>
          <p:nvPr/>
        </p:nvSpPr>
        <p:spPr>
          <a:xfrm>
            <a:off x="548640" y="4892040"/>
            <a:ext cx="11064240" cy="1188720"/>
          </a:xfrm>
          <a:prstGeom prst="roundRect">
            <a:avLst>
              <a:gd name="adj" fmla="val 6154"/>
            </a:avLst>
          </a:prstGeom>
          <a:solidFill>
            <a:srgbClr val="16232E"/>
          </a:solidFill>
          <a:ln/>
        </p:spPr>
      </p:sp>
      <p:sp>
        <p:nvSpPr>
          <p:cNvPr id="30" name="Text 28"/>
          <p:cNvSpPr/>
          <p:nvPr/>
        </p:nvSpPr>
        <p:spPr>
          <a:xfrm>
            <a:off x="548640" y="5074920"/>
            <a:ext cx="1489166" cy="822960"/>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Substrate</a:t>
            </a:r>
            <a:endParaRPr lang="en-US" dirty="0"/>
          </a:p>
        </p:txBody>
      </p:sp>
      <p:sp>
        <p:nvSpPr>
          <p:cNvPr id="31" name="Text 29"/>
          <p:cNvSpPr/>
          <p:nvPr/>
        </p:nvSpPr>
        <p:spPr>
          <a:xfrm>
            <a:off x="1836638" y="5349240"/>
            <a:ext cx="365760" cy="274320"/>
          </a:xfrm>
          <a:prstGeom prst="rect">
            <a:avLst/>
          </a:prstGeom>
          <a:noFill/>
          <a:ln/>
        </p:spPr>
        <p:txBody>
          <a:bodyPr wrap="square" lIns="0" tIns="0" rIns="0" bIns="0" rtlCol="0" anchor="ctr"/>
          <a:lstStyle/>
          <a:p>
            <a:pPr marL="0" indent="0" algn="ctr">
              <a:buNone/>
            </a:pPr>
            <a:r>
              <a:rPr lang="en-US" sz="4000" b="1" dirty="0">
                <a:solidFill>
                  <a:srgbClr val="F2A93B"/>
                </a:solidFill>
                <a:latin typeface="Calibri" pitchFamily="34" charset="0"/>
                <a:ea typeface="Calibri" pitchFamily="34" charset="-122"/>
                <a:cs typeface="Calibri" pitchFamily="34" charset="-120"/>
              </a:rPr>
              <a:t>▸</a:t>
            </a:r>
            <a:endParaRPr lang="en-US" sz="4000" dirty="0"/>
          </a:p>
        </p:txBody>
      </p:sp>
      <p:sp>
        <p:nvSpPr>
          <p:cNvPr id="32" name="Text 30"/>
          <p:cNvSpPr/>
          <p:nvPr/>
        </p:nvSpPr>
        <p:spPr>
          <a:xfrm>
            <a:off x="2129246" y="5074920"/>
            <a:ext cx="1489166" cy="822960"/>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Heat + Filler</a:t>
            </a:r>
            <a:endParaRPr lang="en-US" dirty="0"/>
          </a:p>
        </p:txBody>
      </p:sp>
      <p:sp>
        <p:nvSpPr>
          <p:cNvPr id="33" name="Text 31"/>
          <p:cNvSpPr/>
          <p:nvPr/>
        </p:nvSpPr>
        <p:spPr>
          <a:xfrm>
            <a:off x="3490396" y="5349240"/>
            <a:ext cx="365760" cy="274320"/>
          </a:xfrm>
          <a:prstGeom prst="rect">
            <a:avLst/>
          </a:prstGeom>
          <a:noFill/>
          <a:ln/>
        </p:spPr>
        <p:txBody>
          <a:bodyPr wrap="square" lIns="0" tIns="0" rIns="0" bIns="0" rtlCol="0" anchor="ctr"/>
          <a:lstStyle/>
          <a:p>
            <a:pPr marL="0" indent="0" algn="ctr">
              <a:buNone/>
            </a:pPr>
            <a:r>
              <a:rPr lang="en-US" sz="4000" b="1" dirty="0">
                <a:solidFill>
                  <a:srgbClr val="F2A93B"/>
                </a:solidFill>
                <a:latin typeface="Calibri" pitchFamily="34" charset="0"/>
                <a:ea typeface="Calibri" pitchFamily="34" charset="-122"/>
                <a:cs typeface="Calibri" pitchFamily="34" charset="-120"/>
              </a:rPr>
              <a:t>▸</a:t>
            </a:r>
            <a:endParaRPr lang="en-US" sz="4000" dirty="0"/>
          </a:p>
        </p:txBody>
      </p:sp>
      <p:sp>
        <p:nvSpPr>
          <p:cNvPr id="34" name="Text 32"/>
          <p:cNvSpPr/>
          <p:nvPr/>
        </p:nvSpPr>
        <p:spPr>
          <a:xfrm>
            <a:off x="3709851" y="5074920"/>
            <a:ext cx="1489166" cy="822960"/>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Molten Pool</a:t>
            </a:r>
            <a:endParaRPr lang="en-US" dirty="0"/>
          </a:p>
        </p:txBody>
      </p:sp>
      <p:sp>
        <p:nvSpPr>
          <p:cNvPr id="35" name="Text 33"/>
          <p:cNvSpPr/>
          <p:nvPr/>
        </p:nvSpPr>
        <p:spPr>
          <a:xfrm>
            <a:off x="5061857" y="5349240"/>
            <a:ext cx="365760" cy="274320"/>
          </a:xfrm>
          <a:prstGeom prst="rect">
            <a:avLst/>
          </a:prstGeom>
          <a:noFill/>
          <a:ln/>
        </p:spPr>
        <p:txBody>
          <a:bodyPr wrap="square" lIns="0" tIns="0" rIns="0" bIns="0" rtlCol="0" anchor="ctr"/>
          <a:lstStyle/>
          <a:p>
            <a:pPr marL="0" indent="0" algn="ctr">
              <a:buNone/>
            </a:pPr>
            <a:r>
              <a:rPr lang="en-US" sz="4000" b="1" dirty="0">
                <a:solidFill>
                  <a:srgbClr val="F2A93B"/>
                </a:solidFill>
                <a:latin typeface="Calibri" pitchFamily="34" charset="0"/>
                <a:ea typeface="Calibri" pitchFamily="34" charset="-122"/>
                <a:cs typeface="Calibri" pitchFamily="34" charset="-120"/>
              </a:rPr>
              <a:t>▸</a:t>
            </a:r>
            <a:endParaRPr lang="en-US" sz="4000" dirty="0"/>
          </a:p>
        </p:txBody>
      </p:sp>
      <p:sp>
        <p:nvSpPr>
          <p:cNvPr id="36" name="Text 34"/>
          <p:cNvSpPr/>
          <p:nvPr/>
        </p:nvSpPr>
        <p:spPr>
          <a:xfrm>
            <a:off x="5290457" y="5074920"/>
            <a:ext cx="1489166" cy="822960"/>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Solidification</a:t>
            </a:r>
            <a:endParaRPr lang="en-US" dirty="0"/>
          </a:p>
        </p:txBody>
      </p:sp>
      <p:sp>
        <p:nvSpPr>
          <p:cNvPr id="37" name="Text 35"/>
          <p:cNvSpPr/>
          <p:nvPr/>
        </p:nvSpPr>
        <p:spPr>
          <a:xfrm>
            <a:off x="6784848" y="5349240"/>
            <a:ext cx="365760" cy="274320"/>
          </a:xfrm>
          <a:prstGeom prst="rect">
            <a:avLst/>
          </a:prstGeom>
          <a:noFill/>
          <a:ln/>
        </p:spPr>
        <p:txBody>
          <a:bodyPr wrap="square" lIns="0" tIns="0" rIns="0" bIns="0" rtlCol="0" anchor="ctr"/>
          <a:lstStyle/>
          <a:p>
            <a:pPr marL="0" indent="0" algn="ctr">
              <a:buNone/>
            </a:pPr>
            <a:r>
              <a:rPr lang="en-US" sz="4000" b="1" dirty="0">
                <a:solidFill>
                  <a:srgbClr val="F2A93B"/>
                </a:solidFill>
                <a:latin typeface="Calibri" pitchFamily="34" charset="0"/>
                <a:ea typeface="Calibri" pitchFamily="34" charset="-122"/>
                <a:cs typeface="Calibri" pitchFamily="34" charset="-120"/>
              </a:rPr>
              <a:t>▸</a:t>
            </a:r>
            <a:endParaRPr lang="en-US" sz="4000" dirty="0"/>
          </a:p>
        </p:txBody>
      </p:sp>
      <p:sp>
        <p:nvSpPr>
          <p:cNvPr id="38" name="Text 36"/>
          <p:cNvSpPr/>
          <p:nvPr/>
        </p:nvSpPr>
        <p:spPr>
          <a:xfrm>
            <a:off x="6871063" y="5074920"/>
            <a:ext cx="1489166" cy="822960"/>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Layer 1</a:t>
            </a:r>
            <a:endParaRPr lang="en-US" dirty="0"/>
          </a:p>
        </p:txBody>
      </p:sp>
      <p:sp>
        <p:nvSpPr>
          <p:cNvPr id="39" name="Text 37"/>
          <p:cNvSpPr/>
          <p:nvPr/>
        </p:nvSpPr>
        <p:spPr>
          <a:xfrm>
            <a:off x="8159061" y="5349240"/>
            <a:ext cx="365760" cy="274320"/>
          </a:xfrm>
          <a:prstGeom prst="rect">
            <a:avLst/>
          </a:prstGeom>
          <a:noFill/>
          <a:ln/>
        </p:spPr>
        <p:txBody>
          <a:bodyPr wrap="square" lIns="0" tIns="0" rIns="0" bIns="0" rtlCol="0" anchor="ctr"/>
          <a:lstStyle/>
          <a:p>
            <a:pPr marL="0" indent="0" algn="ctr">
              <a:buNone/>
            </a:pPr>
            <a:r>
              <a:rPr lang="en-US" sz="4000" b="1" dirty="0">
                <a:solidFill>
                  <a:srgbClr val="F2A93B"/>
                </a:solidFill>
                <a:latin typeface="Calibri" pitchFamily="34" charset="0"/>
                <a:ea typeface="Calibri" pitchFamily="34" charset="-122"/>
                <a:cs typeface="Calibri" pitchFamily="34" charset="-120"/>
              </a:rPr>
              <a:t>▸</a:t>
            </a:r>
            <a:endParaRPr lang="en-US" sz="4000" dirty="0"/>
          </a:p>
        </p:txBody>
      </p:sp>
      <p:sp>
        <p:nvSpPr>
          <p:cNvPr id="40" name="Text 38"/>
          <p:cNvSpPr/>
          <p:nvPr/>
        </p:nvSpPr>
        <p:spPr>
          <a:xfrm>
            <a:off x="8451669" y="5074920"/>
            <a:ext cx="1489166" cy="822960"/>
          </a:xfrm>
          <a:prstGeom prst="rect">
            <a:avLst/>
          </a:prstGeom>
          <a:noFill/>
          <a:ln/>
        </p:spPr>
        <p:txBody>
          <a:bodyPr wrap="square" lIns="0" tIns="0" rIns="0" bIns="0"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Layer 2</a:t>
            </a:r>
            <a:endParaRPr lang="en-US" dirty="0"/>
          </a:p>
        </p:txBody>
      </p:sp>
      <p:sp>
        <p:nvSpPr>
          <p:cNvPr id="41" name="Text 39"/>
          <p:cNvSpPr/>
          <p:nvPr/>
        </p:nvSpPr>
        <p:spPr>
          <a:xfrm>
            <a:off x="9739666" y="5349240"/>
            <a:ext cx="365760" cy="274320"/>
          </a:xfrm>
          <a:prstGeom prst="rect">
            <a:avLst/>
          </a:prstGeom>
          <a:noFill/>
          <a:ln/>
        </p:spPr>
        <p:txBody>
          <a:bodyPr wrap="square" lIns="0" tIns="0" rIns="0" bIns="0" rtlCol="0" anchor="ctr"/>
          <a:lstStyle/>
          <a:p>
            <a:pPr marL="0" indent="0" algn="ctr">
              <a:buNone/>
            </a:pPr>
            <a:r>
              <a:rPr lang="en-US" sz="4000" b="1" dirty="0">
                <a:solidFill>
                  <a:srgbClr val="F2A93B"/>
                </a:solidFill>
                <a:latin typeface="Calibri" pitchFamily="34" charset="0"/>
                <a:ea typeface="Calibri" pitchFamily="34" charset="-122"/>
                <a:cs typeface="Calibri" pitchFamily="34" charset="-120"/>
              </a:rPr>
              <a:t>▸</a:t>
            </a:r>
            <a:endParaRPr lang="en-US" sz="4000" dirty="0"/>
          </a:p>
        </p:txBody>
      </p:sp>
      <p:sp>
        <p:nvSpPr>
          <p:cNvPr id="42" name="Text 40"/>
          <p:cNvSpPr/>
          <p:nvPr/>
        </p:nvSpPr>
        <p:spPr>
          <a:xfrm>
            <a:off x="10032274" y="5074920"/>
            <a:ext cx="1489166" cy="822960"/>
          </a:xfrm>
          <a:prstGeom prst="rect">
            <a:avLst/>
          </a:prstGeom>
          <a:noFill/>
          <a:ln/>
        </p:spPr>
        <p:txBody>
          <a:bodyPr wrap="square" lIns="0" tIns="0" rIns="0" bIns="0" rtlCol="0" anchor="ctr"/>
          <a:lstStyle/>
          <a:p>
            <a:pPr marL="0" indent="0" algn="ctr">
              <a:buNone/>
            </a:pPr>
            <a:r>
              <a:rPr lang="en-US" b="1" dirty="0">
                <a:solidFill>
                  <a:srgbClr val="F2A93B"/>
                </a:solidFill>
                <a:latin typeface="Calibri" pitchFamily="34" charset="0"/>
                <a:ea typeface="Calibri" pitchFamily="34" charset="-122"/>
                <a:cs typeface="Calibri" pitchFamily="34" charset="-120"/>
              </a:rPr>
              <a:t>Final Part</a:t>
            </a:r>
            <a:endParaRPr lang="en-US"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3F5F7"/>
        </a:solidFill>
        <a:effectLst/>
      </p:bgPr>
    </p:bg>
    <p:spTree>
      <p:nvGrpSpPr>
        <p:cNvPr id="1" name=""/>
        <p:cNvGrpSpPr/>
        <p:nvPr/>
      </p:nvGrpSpPr>
      <p:grpSpPr>
        <a:xfrm>
          <a:off x="0" y="0"/>
          <a:ext cx="0" cy="0"/>
          <a:chOff x="0" y="0"/>
          <a:chExt cx="0" cy="0"/>
        </a:xfrm>
      </p:grpSpPr>
      <p:sp>
        <p:nvSpPr>
          <p:cNvPr id="3" name="Text 1"/>
          <p:cNvSpPr/>
          <p:nvPr/>
        </p:nvSpPr>
        <p:spPr>
          <a:xfrm>
            <a:off x="548640" y="566928"/>
            <a:ext cx="10789920" cy="685800"/>
          </a:xfrm>
          <a:prstGeom prst="rect">
            <a:avLst/>
          </a:prstGeom>
          <a:noFill/>
          <a:ln/>
        </p:spPr>
        <p:txBody>
          <a:bodyPr wrap="square" lIns="0" tIns="0" rIns="0" bIns="0" rtlCol="0" anchor="ctr"/>
          <a:lstStyle/>
          <a:p>
            <a:pPr marL="0" indent="0" algn="ctr">
              <a:buNone/>
            </a:pPr>
            <a:r>
              <a:rPr lang="en-US" sz="3000" b="1" dirty="0">
                <a:solidFill>
                  <a:srgbClr val="16232E"/>
                </a:solidFill>
                <a:latin typeface="Times New Roman" panose="02020603050405020304" pitchFamily="18" charset="0"/>
                <a:ea typeface="Cambria" pitchFamily="34" charset="-122"/>
                <a:cs typeface="Times New Roman" panose="02020603050405020304" pitchFamily="18" charset="0"/>
              </a:rPr>
              <a:t>Why Do We Need Simulation?</a:t>
            </a:r>
            <a:endParaRPr lang="en-US" sz="3000" dirty="0">
              <a:latin typeface="Times New Roman" panose="02020603050405020304" pitchFamily="18" charset="0"/>
              <a:cs typeface="Times New Roman" panose="02020603050405020304" pitchFamily="18" charset="0"/>
            </a:endParaRPr>
          </a:p>
        </p:txBody>
      </p:sp>
      <p:graphicFrame>
        <p:nvGraphicFramePr>
          <p:cNvPr id="20" name="Table 0"/>
          <p:cNvGraphicFramePr>
            <a:graphicFrameLocks noGrp="1"/>
          </p:cNvGraphicFramePr>
          <p:nvPr>
            <p:extLst>
              <p:ext uri="{D42A27DB-BD31-4B8C-83A1-F6EECF244321}">
                <p14:modId xmlns:p14="http://schemas.microsoft.com/office/powerpoint/2010/main" val="2644860474"/>
              </p:ext>
            </p:extLst>
          </p:nvPr>
        </p:nvGraphicFramePr>
        <p:xfrm>
          <a:off x="660607" y="1868921"/>
          <a:ext cx="11064240" cy="3570826"/>
        </p:xfrm>
        <a:graphic>
          <a:graphicData uri="http://schemas.openxmlformats.org/drawingml/2006/table">
            <a:tbl>
              <a:tblPr/>
              <a:tblGrid>
                <a:gridCol w="5532120">
                  <a:extLst>
                    <a:ext uri="{9D8B030D-6E8A-4147-A177-3AD203B41FA5}">
                      <a16:colId xmlns:a16="http://schemas.microsoft.com/office/drawing/2014/main" val="20000"/>
                    </a:ext>
                  </a:extLst>
                </a:gridCol>
                <a:gridCol w="5532120">
                  <a:extLst>
                    <a:ext uri="{9D8B030D-6E8A-4147-A177-3AD203B41FA5}">
                      <a16:colId xmlns:a16="http://schemas.microsoft.com/office/drawing/2014/main" val="20001"/>
                    </a:ext>
                  </a:extLst>
                </a:gridCol>
              </a:tblGrid>
              <a:tr h="610556">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Without Simulation</a:t>
                      </a:r>
                      <a:endParaRPr lang="en-US" sz="18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solidFill>
                      <a:srgbClr val="3A5068"/>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With Simulation</a:t>
                      </a:r>
                      <a:endParaRPr lang="en-US" sz="18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solidFill>
                      <a:srgbClr val="F2A93B"/>
                    </a:solidFill>
                  </a:tcPr>
                </a:tc>
                <a:extLst>
                  <a:ext uri="{0D108BD9-81ED-4DB2-BD59-A6C34878D82A}">
                    <a16:rowId xmlns:a16="http://schemas.microsoft.com/office/drawing/2014/main" val="10000"/>
                  </a:ext>
                </a:extLst>
              </a:tr>
              <a:tr h="592054">
                <a:tc>
                  <a:txBody>
                    <a:bodyPr/>
                    <a:lstStyle/>
                    <a:p>
                      <a:pPr marL="0" indent="0" algn="ctr">
                        <a:buNone/>
                      </a:pPr>
                      <a:r>
                        <a:rPr lang="en-US" sz="1800" dirty="0">
                          <a:solidFill>
                            <a:srgbClr val="16232E"/>
                          </a:solidFill>
                          <a:latin typeface="Calibri" pitchFamily="34" charset="0"/>
                          <a:ea typeface="Calibri" pitchFamily="34" charset="-122"/>
                          <a:cs typeface="Calibri" pitchFamily="34" charset="-120"/>
                        </a:rPr>
                        <a:t>More trial-and-error</a:t>
                      </a:r>
                      <a:endParaRPr lang="en-US" sz="18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lgn="ctr">
                        <a:buNone/>
                      </a:pPr>
                      <a:r>
                        <a:rPr lang="en-US" sz="1800" dirty="0">
                          <a:solidFill>
                            <a:srgbClr val="16232E"/>
                          </a:solidFill>
                          <a:latin typeface="Calibri" pitchFamily="34" charset="0"/>
                          <a:ea typeface="Calibri" pitchFamily="34" charset="-122"/>
                          <a:cs typeface="Calibri" pitchFamily="34" charset="-120"/>
                        </a:rPr>
                        <a:t>Reduced trial-and-error</a:t>
                      </a:r>
                      <a:endParaRPr lang="en-US" sz="18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extLst>
                  <a:ext uri="{0D108BD9-81ED-4DB2-BD59-A6C34878D82A}">
                    <a16:rowId xmlns:a16="http://schemas.microsoft.com/office/drawing/2014/main" val="10001"/>
                  </a:ext>
                </a:extLst>
              </a:tr>
              <a:tr h="592054">
                <a:tc>
                  <a:txBody>
                    <a:bodyPr/>
                    <a:lstStyle/>
                    <a:p>
                      <a:pPr marL="0" indent="0" algn="ctr">
                        <a:buNone/>
                      </a:pPr>
                      <a:r>
                        <a:rPr lang="en-US" sz="1800" dirty="0">
                          <a:solidFill>
                            <a:srgbClr val="16232E"/>
                          </a:solidFill>
                          <a:latin typeface="Calibri" pitchFamily="34" charset="0"/>
                          <a:ea typeface="Calibri" pitchFamily="34" charset="-122"/>
                          <a:cs typeface="Calibri" pitchFamily="34" charset="-120"/>
                        </a:rPr>
                        <a:t>Higher experimental cost</a:t>
                      </a:r>
                      <a:endParaRPr lang="en-US" sz="18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lgn="ctr">
                        <a:buNone/>
                      </a:pPr>
                      <a:r>
                        <a:rPr lang="en-US" sz="1800" dirty="0">
                          <a:solidFill>
                            <a:srgbClr val="16232E"/>
                          </a:solidFill>
                          <a:latin typeface="Calibri" pitchFamily="34" charset="0"/>
                          <a:ea typeface="Calibri" pitchFamily="34" charset="-122"/>
                          <a:cs typeface="Calibri" pitchFamily="34" charset="-120"/>
                        </a:rPr>
                        <a:t>Lower development cost</a:t>
                      </a:r>
                      <a:endParaRPr lang="en-US" sz="18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extLst>
                  <a:ext uri="{0D108BD9-81ED-4DB2-BD59-A6C34878D82A}">
                    <a16:rowId xmlns:a16="http://schemas.microsoft.com/office/drawing/2014/main" val="10002"/>
                  </a:ext>
                </a:extLst>
              </a:tr>
              <a:tr h="592054">
                <a:tc>
                  <a:txBody>
                    <a:bodyPr/>
                    <a:lstStyle/>
                    <a:p>
                      <a:pPr marL="0" indent="0" algn="ctr">
                        <a:buNone/>
                      </a:pPr>
                      <a:r>
                        <a:rPr lang="en-US" sz="1800" dirty="0">
                          <a:solidFill>
                            <a:srgbClr val="16232E"/>
                          </a:solidFill>
                          <a:latin typeface="Calibri" pitchFamily="34" charset="0"/>
                          <a:ea typeface="Calibri" pitchFamily="34" charset="-122"/>
                          <a:cs typeface="Calibri" pitchFamily="34" charset="-120"/>
                        </a:rPr>
                        <a:t>Difficult to predict distortion</a:t>
                      </a:r>
                      <a:endParaRPr lang="en-US" sz="18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lgn="ctr">
                        <a:buNone/>
                      </a:pPr>
                      <a:r>
                        <a:rPr lang="en-US" sz="1800" dirty="0">
                          <a:solidFill>
                            <a:srgbClr val="16232E"/>
                          </a:solidFill>
                          <a:latin typeface="Calibri" pitchFamily="34" charset="0"/>
                          <a:ea typeface="Calibri" pitchFamily="34" charset="-122"/>
                          <a:cs typeface="Calibri" pitchFamily="34" charset="-120"/>
                        </a:rPr>
                        <a:t>Distortion can be predicted</a:t>
                      </a:r>
                      <a:endParaRPr lang="en-US" sz="18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extLst>
                  <a:ext uri="{0D108BD9-81ED-4DB2-BD59-A6C34878D82A}">
                    <a16:rowId xmlns:a16="http://schemas.microsoft.com/office/drawing/2014/main" val="10003"/>
                  </a:ext>
                </a:extLst>
              </a:tr>
              <a:tr h="592054">
                <a:tc>
                  <a:txBody>
                    <a:bodyPr/>
                    <a:lstStyle/>
                    <a:p>
                      <a:pPr marL="0" indent="0" algn="ctr">
                        <a:buNone/>
                      </a:pPr>
                      <a:r>
                        <a:rPr lang="en-US" sz="1800" dirty="0">
                          <a:solidFill>
                            <a:srgbClr val="16232E"/>
                          </a:solidFill>
                          <a:latin typeface="Calibri" pitchFamily="34" charset="0"/>
                          <a:ea typeface="Calibri" pitchFamily="34" charset="-122"/>
                          <a:cs typeface="Calibri" pitchFamily="34" charset="-120"/>
                        </a:rPr>
                        <a:t>Difficult to study thermal history</a:t>
                      </a:r>
                      <a:endParaRPr lang="en-US" sz="18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lgn="ctr">
                        <a:buNone/>
                      </a:pPr>
                      <a:r>
                        <a:rPr lang="en-US" sz="1800" dirty="0">
                          <a:solidFill>
                            <a:srgbClr val="16232E"/>
                          </a:solidFill>
                          <a:latin typeface="Calibri" pitchFamily="34" charset="0"/>
                          <a:ea typeface="Calibri" pitchFamily="34" charset="-122"/>
                          <a:cs typeface="Calibri" pitchFamily="34" charset="-120"/>
                        </a:rPr>
                        <a:t>Temperature history available</a:t>
                      </a:r>
                      <a:endParaRPr lang="en-US" sz="18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extLst>
                  <a:ext uri="{0D108BD9-81ED-4DB2-BD59-A6C34878D82A}">
                    <a16:rowId xmlns:a16="http://schemas.microsoft.com/office/drawing/2014/main" val="10004"/>
                  </a:ext>
                </a:extLst>
              </a:tr>
              <a:tr h="592054">
                <a:tc>
                  <a:txBody>
                    <a:bodyPr/>
                    <a:lstStyle/>
                    <a:p>
                      <a:pPr marL="0" indent="0" algn="ctr">
                        <a:buNone/>
                      </a:pPr>
                      <a:r>
                        <a:rPr lang="en-US" sz="1800" dirty="0">
                          <a:solidFill>
                            <a:srgbClr val="16232E"/>
                          </a:solidFill>
                          <a:latin typeface="Calibri" pitchFamily="34" charset="0"/>
                          <a:ea typeface="Calibri" pitchFamily="34" charset="-122"/>
                          <a:cs typeface="Calibri" pitchFamily="34" charset="-120"/>
                        </a:rPr>
                        <a:t>More physical testing</a:t>
                      </a:r>
                      <a:endParaRPr lang="en-US" sz="18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lgn="ctr">
                        <a:buNone/>
                      </a:pPr>
                      <a:r>
                        <a:rPr lang="en-US" sz="1800" dirty="0">
                          <a:solidFill>
                            <a:srgbClr val="16232E"/>
                          </a:solidFill>
                          <a:latin typeface="Calibri" pitchFamily="34" charset="0"/>
                          <a:ea typeface="Calibri" pitchFamily="34" charset="-122"/>
                          <a:cs typeface="Calibri" pitchFamily="34" charset="-120"/>
                        </a:rPr>
                        <a:t>Fewer physical trials</a:t>
                      </a:r>
                      <a:endParaRPr lang="en-US" sz="18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alphaModFix amt="89000"/>
            <a:lum/>
          </a:blip>
          <a:srcRect/>
          <a:stretch>
            <a:fillRect t="-9000" b="-9000"/>
          </a:stretch>
        </a:blipFill>
        <a:effectLst/>
      </p:bgPr>
    </p:bg>
    <p:spTree>
      <p:nvGrpSpPr>
        <p:cNvPr id="1" name=""/>
        <p:cNvGrpSpPr/>
        <p:nvPr/>
      </p:nvGrpSpPr>
      <p:grpSpPr>
        <a:xfrm>
          <a:off x="0" y="0"/>
          <a:ext cx="0" cy="0"/>
          <a:chOff x="0" y="0"/>
          <a:chExt cx="0" cy="0"/>
        </a:xfrm>
      </p:grpSpPr>
      <p:sp>
        <p:nvSpPr>
          <p:cNvPr id="4" name="Text 2"/>
          <p:cNvSpPr/>
          <p:nvPr/>
        </p:nvSpPr>
        <p:spPr>
          <a:xfrm>
            <a:off x="548640" y="500877"/>
            <a:ext cx="10789920" cy="685800"/>
          </a:xfrm>
          <a:prstGeom prst="rect">
            <a:avLst/>
          </a:prstGeom>
          <a:solidFill>
            <a:schemeClr val="accent5">
              <a:lumMod val="40000"/>
              <a:lumOff val="60000"/>
            </a:schemeClr>
          </a:solidFill>
          <a:ln/>
        </p:spPr>
        <p:txBody>
          <a:bodyPr wrap="square" lIns="0" tIns="0" rIns="0" bIns="0" rtlCol="0" anchor="ctr"/>
          <a:lstStyle/>
          <a:p>
            <a:pPr marL="0" indent="0" algn="ctr">
              <a:buNone/>
            </a:pPr>
            <a:r>
              <a:rPr lang="en-US" sz="2800" b="1" dirty="0">
                <a:latin typeface="Times New Roman" panose="02020603050405020304" pitchFamily="18" charset="0"/>
                <a:ea typeface="Cambria" pitchFamily="34" charset="-122"/>
                <a:cs typeface="Times New Roman" panose="02020603050405020304" pitchFamily="18" charset="0"/>
              </a:rPr>
              <a:t>Introduction to MSC Simufact Welding 2024</a:t>
            </a:r>
            <a:endParaRPr lang="en-US" sz="2800" dirty="0">
              <a:latin typeface="Times New Roman" panose="02020603050405020304" pitchFamily="18" charset="0"/>
              <a:cs typeface="Times New Roman" panose="02020603050405020304" pitchFamily="18" charset="0"/>
            </a:endParaRPr>
          </a:p>
        </p:txBody>
      </p:sp>
      <p:sp>
        <p:nvSpPr>
          <p:cNvPr id="5" name="Shape 3"/>
          <p:cNvSpPr/>
          <p:nvPr/>
        </p:nvSpPr>
        <p:spPr>
          <a:xfrm>
            <a:off x="548640" y="1691640"/>
            <a:ext cx="5394960" cy="1097280"/>
          </a:xfrm>
          <a:prstGeom prst="roundRect">
            <a:avLst>
              <a:gd name="adj" fmla="val 6667"/>
            </a:avLst>
          </a:prstGeom>
          <a:solidFill>
            <a:srgbClr val="1F303F"/>
          </a:solidFill>
          <a:ln w="12700">
            <a:solidFill>
              <a:srgbClr val="3A5068"/>
            </a:solidFill>
            <a:prstDash val="solid"/>
          </a:ln>
        </p:spPr>
      </p:sp>
      <p:sp>
        <p:nvSpPr>
          <p:cNvPr id="6" name="Text 4"/>
          <p:cNvSpPr/>
          <p:nvPr/>
        </p:nvSpPr>
        <p:spPr>
          <a:xfrm>
            <a:off x="822960" y="1810512"/>
            <a:ext cx="4846320" cy="868680"/>
          </a:xfrm>
          <a:prstGeom prst="rect">
            <a:avLst/>
          </a:prstGeom>
          <a:noFill/>
          <a:ln/>
        </p:spPr>
        <p:txBody>
          <a:bodyPr wrap="square" lIns="0" tIns="0" rIns="0" bIns="0" rtlCol="0" anchor="ctr"/>
          <a:lstStyle/>
          <a:p>
            <a:pPr marL="0" indent="0">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MSC Simufact Welding is a numerical simulation software used to analyse welding processes and their thermal and mechanical effects.</a:t>
            </a:r>
            <a:endParaRPr lang="en-US" dirty="0">
              <a:latin typeface="Times New Roman" panose="02020603050405020304" pitchFamily="18" charset="0"/>
              <a:cs typeface="Times New Roman" panose="02020603050405020304" pitchFamily="18" charset="0"/>
            </a:endParaRPr>
          </a:p>
        </p:txBody>
      </p:sp>
      <p:sp>
        <p:nvSpPr>
          <p:cNvPr id="7" name="Text 5"/>
          <p:cNvSpPr/>
          <p:nvPr/>
        </p:nvSpPr>
        <p:spPr>
          <a:xfrm>
            <a:off x="548640" y="2971800"/>
            <a:ext cx="4572000" cy="274320"/>
          </a:xfrm>
          <a:prstGeom prst="rect">
            <a:avLst/>
          </a:prstGeom>
          <a:noFill/>
          <a:ln/>
        </p:spPr>
        <p:txBody>
          <a:bodyPr wrap="square" lIns="0" tIns="0" rIns="0" bIns="0" rtlCol="0" anchor="ctr"/>
          <a:lstStyle/>
          <a:p>
            <a:pPr marL="0" indent="0">
              <a:buNone/>
            </a:pPr>
            <a:r>
              <a:rPr lang="en-US" b="1" kern="0" spc="100" dirty="0">
                <a:solidFill>
                  <a:schemeClr val="accent5">
                    <a:lumMod val="20000"/>
                    <a:lumOff val="80000"/>
                  </a:schemeClr>
                </a:solidFill>
                <a:latin typeface="Times New Roman" panose="02020603050405020304" pitchFamily="18" charset="0"/>
                <a:ea typeface="Calibri" pitchFamily="34" charset="-122"/>
                <a:cs typeface="Times New Roman" panose="02020603050405020304" pitchFamily="18" charset="0"/>
              </a:rPr>
              <a:t>   IT HELPS STUDY:</a:t>
            </a:r>
            <a:endParaRPr lang="en-US" dirty="0">
              <a:solidFill>
                <a:schemeClr val="accent5">
                  <a:lumMod val="20000"/>
                  <a:lumOff val="80000"/>
                </a:schemeClr>
              </a:solidFill>
              <a:latin typeface="Times New Roman" panose="02020603050405020304" pitchFamily="18" charset="0"/>
              <a:cs typeface="Times New Roman" panose="02020603050405020304" pitchFamily="18" charset="0"/>
            </a:endParaRPr>
          </a:p>
        </p:txBody>
      </p:sp>
      <p:sp>
        <p:nvSpPr>
          <p:cNvPr id="8" name="Text 6"/>
          <p:cNvSpPr/>
          <p:nvPr/>
        </p:nvSpPr>
        <p:spPr>
          <a:xfrm>
            <a:off x="548640" y="3291840"/>
            <a:ext cx="5303520" cy="2377440"/>
          </a:xfrm>
          <a:prstGeom prst="rect">
            <a:avLst/>
          </a:prstGeom>
          <a:noFill/>
          <a:ln/>
        </p:spPr>
        <p:txBody>
          <a:bodyPr wrap="square" lIns="0" tIns="0" rIns="0" bIns="0" rtlCol="0" anchor="t"/>
          <a:lstStyle/>
          <a:p>
            <a:pPr marL="228600" indent="-228600">
              <a:spcAft>
                <a:spcPts val="1000"/>
              </a:spcAft>
              <a:buSzPct val="100000"/>
              <a:buChar char="▪"/>
            </a:pPr>
            <a:r>
              <a:rPr lang="en-US" dirty="0">
                <a:solidFill>
                  <a:schemeClr val="bg1"/>
                </a:solidFill>
                <a:latin typeface="Times New Roman" panose="02020603050405020304" pitchFamily="18" charset="0"/>
                <a:ea typeface="Calibri" pitchFamily="34" charset="-122"/>
                <a:cs typeface="Times New Roman" panose="02020603050405020304" pitchFamily="18" charset="0"/>
              </a:rPr>
              <a:t>Heat transfer &amp; temperature distribution</a:t>
            </a:r>
            <a:endParaRPr lang="en-US" dirty="0">
              <a:solidFill>
                <a:schemeClr val="bg1"/>
              </a:solidFill>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dirty="0">
                <a:solidFill>
                  <a:schemeClr val="bg1"/>
                </a:solidFill>
                <a:latin typeface="Times New Roman" panose="02020603050405020304" pitchFamily="18" charset="0"/>
                <a:ea typeface="Calibri" pitchFamily="34" charset="-122"/>
                <a:cs typeface="Times New Roman" panose="02020603050405020304" pitchFamily="18" charset="0"/>
              </a:rPr>
              <a:t>Thermal cycles</a:t>
            </a:r>
            <a:endParaRPr lang="en-US" dirty="0">
              <a:solidFill>
                <a:schemeClr val="bg1"/>
              </a:solidFill>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dirty="0">
                <a:solidFill>
                  <a:schemeClr val="bg1"/>
                </a:solidFill>
                <a:latin typeface="Times New Roman" panose="02020603050405020304" pitchFamily="18" charset="0"/>
                <a:ea typeface="Calibri" pitchFamily="34" charset="-122"/>
                <a:cs typeface="Times New Roman" panose="02020603050405020304" pitchFamily="18" charset="0"/>
              </a:rPr>
              <a:t>Residual stress</a:t>
            </a:r>
            <a:endParaRPr lang="en-US" dirty="0">
              <a:solidFill>
                <a:schemeClr val="bg1"/>
              </a:solidFill>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dirty="0">
                <a:solidFill>
                  <a:schemeClr val="bg1"/>
                </a:solidFill>
                <a:latin typeface="Times New Roman" panose="02020603050405020304" pitchFamily="18" charset="0"/>
                <a:ea typeface="Calibri" pitchFamily="34" charset="-122"/>
                <a:cs typeface="Times New Roman" panose="02020603050405020304" pitchFamily="18" charset="0"/>
              </a:rPr>
              <a:t>Distortion &amp; deformation</a:t>
            </a:r>
            <a:endParaRPr lang="en-US" dirty="0">
              <a:solidFill>
                <a:schemeClr val="bg1"/>
              </a:solidFill>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dirty="0">
                <a:solidFill>
                  <a:schemeClr val="bg1"/>
                </a:solidFill>
                <a:latin typeface="Times New Roman" panose="02020603050405020304" pitchFamily="18" charset="0"/>
                <a:ea typeface="Calibri" pitchFamily="34" charset="-122"/>
                <a:cs typeface="Times New Roman" panose="02020603050405020304" pitchFamily="18" charset="0"/>
              </a:rPr>
              <a:t>Welding process behaviour</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10" name="Text 8"/>
          <p:cNvSpPr/>
          <p:nvPr/>
        </p:nvSpPr>
        <p:spPr>
          <a:xfrm>
            <a:off x="6583680" y="1920240"/>
            <a:ext cx="4572000" cy="274320"/>
          </a:xfrm>
          <a:prstGeom prst="rect">
            <a:avLst/>
          </a:prstGeom>
          <a:solidFill>
            <a:schemeClr val="accent5">
              <a:lumMod val="60000"/>
              <a:lumOff val="40000"/>
            </a:schemeClr>
          </a:solidFill>
          <a:ln/>
        </p:spPr>
        <p:txBody>
          <a:bodyPr wrap="square" lIns="0" tIns="0" rIns="0" bIns="0" rtlCol="0" anchor="ctr"/>
          <a:lstStyle/>
          <a:p>
            <a:pPr marL="0" indent="0" algn="ctr">
              <a:buNone/>
            </a:pPr>
            <a:r>
              <a:rPr lang="en-US" sz="2000" b="1" kern="0" spc="100" dirty="0">
                <a:latin typeface="Times New Roman" panose="02020603050405020304" pitchFamily="18" charset="0"/>
                <a:ea typeface="Calibri" pitchFamily="34" charset="-122"/>
                <a:cs typeface="Times New Roman" panose="02020603050405020304" pitchFamily="18" charset="0"/>
              </a:rPr>
              <a:t>CONCEPT</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6583680" y="2331720"/>
            <a:ext cx="4572000" cy="594360"/>
          </a:xfrm>
          <a:prstGeom prst="roundRect">
            <a:avLst>
              <a:gd name="adj" fmla="val 10769"/>
            </a:avLst>
          </a:prstGeom>
          <a:solidFill>
            <a:srgbClr val="3A5068"/>
          </a:solidFill>
          <a:ln/>
        </p:spPr>
      </p:sp>
      <p:sp>
        <p:nvSpPr>
          <p:cNvPr id="12" name="Text 10"/>
          <p:cNvSpPr/>
          <p:nvPr/>
        </p:nvSpPr>
        <p:spPr>
          <a:xfrm>
            <a:off x="6583680" y="2331720"/>
            <a:ext cx="4572000" cy="594360"/>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Real Welding</a:t>
            </a: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Process</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8686800" y="2907792"/>
            <a:ext cx="365760" cy="274320"/>
          </a:xfrm>
          <a:prstGeom prst="rect">
            <a:avLst/>
          </a:prstGeom>
          <a:noFill/>
          <a:ln/>
        </p:spPr>
        <p:txBody>
          <a:bodyPr wrap="square" lIns="0" tIns="0" rIns="0" bIns="0" rtlCol="0" anchor="ctr"/>
          <a:lstStyle/>
          <a:p>
            <a:pPr marL="0" indent="0" algn="ctr">
              <a:buNone/>
            </a:pPr>
            <a:r>
              <a:rPr lang="en-US" sz="3200" b="1" dirty="0">
                <a:solidFill>
                  <a:srgbClr val="F2A93B"/>
                </a:solidFill>
                <a:latin typeface="Times New Roman" panose="02020603050405020304" pitchFamily="18" charset="0"/>
                <a:ea typeface="Calibri" pitchFamily="34" charset="-122"/>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
        <p:nvSpPr>
          <p:cNvPr id="14" name="Shape 12"/>
          <p:cNvSpPr/>
          <p:nvPr/>
        </p:nvSpPr>
        <p:spPr>
          <a:xfrm>
            <a:off x="6583680" y="3200400"/>
            <a:ext cx="4572000" cy="594360"/>
          </a:xfrm>
          <a:prstGeom prst="roundRect">
            <a:avLst>
              <a:gd name="adj" fmla="val 10769"/>
            </a:avLst>
          </a:prstGeom>
          <a:solidFill>
            <a:srgbClr val="3A5068"/>
          </a:solidFill>
          <a:ln/>
        </p:spPr>
      </p:sp>
      <p:sp>
        <p:nvSpPr>
          <p:cNvPr id="15" name="Text 13"/>
          <p:cNvSpPr/>
          <p:nvPr/>
        </p:nvSpPr>
        <p:spPr>
          <a:xfrm>
            <a:off x="6583680" y="3200400"/>
            <a:ext cx="4572000" cy="594360"/>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Represented as a</a:t>
            </a: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Numerical Model</a:t>
            </a:r>
            <a:endParaRPr lang="en-US" dirty="0">
              <a:latin typeface="Times New Roman" panose="02020603050405020304" pitchFamily="18" charset="0"/>
              <a:cs typeface="Times New Roman" panose="02020603050405020304" pitchFamily="18" charset="0"/>
            </a:endParaRPr>
          </a:p>
        </p:txBody>
      </p:sp>
      <p:sp>
        <p:nvSpPr>
          <p:cNvPr id="16" name="Text 14"/>
          <p:cNvSpPr/>
          <p:nvPr/>
        </p:nvSpPr>
        <p:spPr>
          <a:xfrm>
            <a:off x="8686800" y="3776472"/>
            <a:ext cx="365760" cy="274320"/>
          </a:xfrm>
          <a:prstGeom prst="rect">
            <a:avLst/>
          </a:prstGeom>
          <a:noFill/>
          <a:ln/>
        </p:spPr>
        <p:txBody>
          <a:bodyPr wrap="square" lIns="0" tIns="0" rIns="0" bIns="0" rtlCol="0" anchor="ctr"/>
          <a:lstStyle/>
          <a:p>
            <a:pPr marL="0" indent="0" algn="ctr">
              <a:buNone/>
            </a:pPr>
            <a:r>
              <a:rPr lang="en-US" sz="3200" b="1" dirty="0">
                <a:solidFill>
                  <a:srgbClr val="F2A93B"/>
                </a:solidFill>
                <a:latin typeface="Times New Roman" panose="02020603050405020304" pitchFamily="18" charset="0"/>
                <a:ea typeface="Calibri" pitchFamily="34" charset="-122"/>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
        <p:nvSpPr>
          <p:cNvPr id="17" name="Shape 15"/>
          <p:cNvSpPr/>
          <p:nvPr/>
        </p:nvSpPr>
        <p:spPr>
          <a:xfrm>
            <a:off x="6583680" y="4069080"/>
            <a:ext cx="4572000" cy="594360"/>
          </a:xfrm>
          <a:prstGeom prst="roundRect">
            <a:avLst>
              <a:gd name="adj" fmla="val 10769"/>
            </a:avLst>
          </a:prstGeom>
          <a:solidFill>
            <a:srgbClr val="3A5068"/>
          </a:solidFill>
          <a:ln/>
        </p:spPr>
      </p:sp>
      <p:sp>
        <p:nvSpPr>
          <p:cNvPr id="18" name="Text 16"/>
          <p:cNvSpPr/>
          <p:nvPr/>
        </p:nvSpPr>
        <p:spPr>
          <a:xfrm>
            <a:off x="6583680" y="4069080"/>
            <a:ext cx="4572000" cy="594360"/>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Solved via</a:t>
            </a: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FFFFFF"/>
                </a:solidFill>
                <a:latin typeface="Times New Roman" panose="02020603050405020304" pitchFamily="18" charset="0"/>
                <a:ea typeface="Calibri" pitchFamily="34" charset="-122"/>
                <a:cs typeface="Times New Roman" panose="02020603050405020304" pitchFamily="18" charset="0"/>
              </a:rPr>
              <a:t>Computational Methods</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8686800" y="4645152"/>
            <a:ext cx="365760" cy="274320"/>
          </a:xfrm>
          <a:prstGeom prst="rect">
            <a:avLst/>
          </a:prstGeom>
          <a:noFill/>
          <a:ln/>
        </p:spPr>
        <p:txBody>
          <a:bodyPr wrap="square" lIns="0" tIns="0" rIns="0" bIns="0" rtlCol="0" anchor="ctr"/>
          <a:lstStyle/>
          <a:p>
            <a:pPr marL="0" indent="0" algn="ctr">
              <a:buNone/>
            </a:pPr>
            <a:r>
              <a:rPr lang="en-US" sz="3200" b="1" dirty="0">
                <a:solidFill>
                  <a:srgbClr val="F2A93B"/>
                </a:solidFill>
                <a:latin typeface="Times New Roman" panose="02020603050405020304" pitchFamily="18" charset="0"/>
                <a:ea typeface="Calibri" pitchFamily="34" charset="-122"/>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
        <p:nvSpPr>
          <p:cNvPr id="20" name="Shape 18"/>
          <p:cNvSpPr/>
          <p:nvPr/>
        </p:nvSpPr>
        <p:spPr>
          <a:xfrm>
            <a:off x="6583680" y="4937760"/>
            <a:ext cx="4572000" cy="594360"/>
          </a:xfrm>
          <a:prstGeom prst="roundRect">
            <a:avLst>
              <a:gd name="adj" fmla="val 10769"/>
            </a:avLst>
          </a:prstGeom>
          <a:solidFill>
            <a:srgbClr val="F2A93B"/>
          </a:solidFill>
          <a:ln/>
        </p:spPr>
      </p:sp>
      <p:sp>
        <p:nvSpPr>
          <p:cNvPr id="21" name="Text 19"/>
          <p:cNvSpPr/>
          <p:nvPr/>
        </p:nvSpPr>
        <p:spPr>
          <a:xfrm>
            <a:off x="6583680" y="4937760"/>
            <a:ext cx="4572000" cy="594360"/>
          </a:xfrm>
          <a:prstGeom prst="rect">
            <a:avLst/>
          </a:prstGeom>
          <a:noFill/>
          <a:ln/>
        </p:spPr>
        <p:txBody>
          <a:bodyPr wrap="square" lIns="0" tIns="0" rIns="0" bIns="0" rtlCol="0" anchor="ctr"/>
          <a:lstStyle/>
          <a:p>
            <a:pPr marL="0" indent="0" algn="ctr">
              <a:buNone/>
            </a:pPr>
            <a:r>
              <a:rPr lang="en-US" b="1" dirty="0">
                <a:solidFill>
                  <a:srgbClr val="16232E"/>
                </a:solidFill>
                <a:latin typeface="Times New Roman" panose="02020603050405020304" pitchFamily="18" charset="0"/>
                <a:ea typeface="Calibri" pitchFamily="34" charset="-122"/>
                <a:cs typeface="Times New Roman" panose="02020603050405020304" pitchFamily="18" charset="0"/>
              </a:rPr>
              <a:t>Engineering</a:t>
            </a:r>
            <a:endParaRPr lang="en-US" dirty="0">
              <a:latin typeface="Times New Roman" panose="02020603050405020304" pitchFamily="18" charset="0"/>
              <a:cs typeface="Times New Roman" panose="02020603050405020304" pitchFamily="18" charset="0"/>
            </a:endParaRPr>
          </a:p>
          <a:p>
            <a:pPr marL="0" indent="0" algn="ctr">
              <a:buNone/>
            </a:pPr>
            <a:r>
              <a:rPr lang="en-US" b="1" dirty="0">
                <a:solidFill>
                  <a:srgbClr val="16232E"/>
                </a:solidFill>
                <a:latin typeface="Times New Roman" panose="02020603050405020304" pitchFamily="18" charset="0"/>
                <a:ea typeface="Calibri" pitchFamily="34" charset="-122"/>
                <a:cs typeface="Times New Roman" panose="02020603050405020304" pitchFamily="18" charset="0"/>
              </a:rPr>
              <a:t>Results</a:t>
            </a:r>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3F5F7"/>
        </a:solidFill>
        <a:effectLst/>
      </p:bgPr>
    </p:bg>
    <p:spTree>
      <p:nvGrpSpPr>
        <p:cNvPr id="1" name=""/>
        <p:cNvGrpSpPr/>
        <p:nvPr/>
      </p:nvGrpSpPr>
      <p:grpSpPr>
        <a:xfrm>
          <a:off x="0" y="0"/>
          <a:ext cx="0" cy="0"/>
          <a:chOff x="0" y="0"/>
          <a:chExt cx="0" cy="0"/>
        </a:xfrm>
      </p:grpSpPr>
      <p:sp>
        <p:nvSpPr>
          <p:cNvPr id="3" name="Text 1"/>
          <p:cNvSpPr/>
          <p:nvPr/>
        </p:nvSpPr>
        <p:spPr>
          <a:xfrm>
            <a:off x="548640" y="612648"/>
            <a:ext cx="10789920" cy="685800"/>
          </a:xfrm>
          <a:prstGeom prst="rect">
            <a:avLst/>
          </a:prstGeom>
          <a:noFill/>
          <a:ln/>
        </p:spPr>
        <p:txBody>
          <a:bodyPr wrap="square" lIns="0" tIns="0" rIns="0" bIns="0" rtlCol="0" anchor="ctr"/>
          <a:lstStyle/>
          <a:p>
            <a:pPr marL="0" indent="0" algn="ctr">
              <a:buNone/>
            </a:pPr>
            <a:r>
              <a:rPr lang="en-US" sz="3000" b="1" dirty="0">
                <a:solidFill>
                  <a:srgbClr val="16232E"/>
                </a:solidFill>
                <a:latin typeface="Times New Roman" panose="02020603050405020304" pitchFamily="18" charset="0"/>
                <a:ea typeface="Cambria" pitchFamily="34" charset="-122"/>
                <a:cs typeface="Times New Roman" panose="02020603050405020304" pitchFamily="18" charset="0"/>
              </a:rPr>
              <a:t>Simulation Model &amp; Input Parameters</a:t>
            </a:r>
            <a:endParaRPr lang="en-US" sz="3000" dirty="0">
              <a:latin typeface="Times New Roman" panose="02020603050405020304" pitchFamily="18" charset="0"/>
              <a:cs typeface="Times New Roman" panose="02020603050405020304" pitchFamily="18" charset="0"/>
            </a:endParaRPr>
          </a:p>
        </p:txBody>
      </p:sp>
      <p:sp>
        <p:nvSpPr>
          <p:cNvPr id="5" name="Shape 3"/>
          <p:cNvSpPr/>
          <p:nvPr/>
        </p:nvSpPr>
        <p:spPr>
          <a:xfrm>
            <a:off x="548640" y="1508760"/>
            <a:ext cx="3611880" cy="2148840"/>
          </a:xfrm>
          <a:prstGeom prst="roundRect">
            <a:avLst>
              <a:gd name="adj" fmla="val 3404"/>
            </a:avLst>
          </a:prstGeom>
          <a:solidFill>
            <a:srgbClr val="FFFFFF"/>
          </a:solidFill>
          <a:ln w="12700">
            <a:solidFill>
              <a:srgbClr val="C7D2DB"/>
            </a:solidFill>
            <a:prstDash val="solid"/>
          </a:ln>
          <a:effectLst>
            <a:outerShdw blurRad="101600" dist="25400" dir="5400000" algn="bl" rotWithShape="0">
              <a:srgbClr val="16232E">
                <a:alpha val="12000"/>
              </a:srgbClr>
            </a:outerShdw>
          </a:effectLst>
        </p:spPr>
      </p:sp>
      <p:sp>
        <p:nvSpPr>
          <p:cNvPr id="6" name="Shape 4"/>
          <p:cNvSpPr/>
          <p:nvPr/>
        </p:nvSpPr>
        <p:spPr>
          <a:xfrm>
            <a:off x="777240" y="1737360"/>
            <a:ext cx="365760" cy="365760"/>
          </a:xfrm>
          <a:prstGeom prst="ellipse">
            <a:avLst/>
          </a:prstGeom>
          <a:solidFill>
            <a:srgbClr val="3A5068"/>
          </a:solidFill>
          <a:ln/>
        </p:spPr>
      </p:sp>
      <p:sp>
        <p:nvSpPr>
          <p:cNvPr id="7" name="Text 5"/>
          <p:cNvSpPr/>
          <p:nvPr/>
        </p:nvSpPr>
        <p:spPr>
          <a:xfrm>
            <a:off x="777240" y="173736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mbria" pitchFamily="34" charset="-122"/>
                <a:cs typeface="Times New Roman" panose="02020603050405020304" pitchFamily="18" charset="0"/>
              </a:rPr>
              <a:t>1</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1234440" y="1737360"/>
            <a:ext cx="2697480" cy="365760"/>
          </a:xfrm>
          <a:prstGeom prst="rect">
            <a:avLst/>
          </a:prstGeom>
          <a:noFill/>
          <a:ln/>
        </p:spPr>
        <p:txBody>
          <a:bodyPr wrap="square" lIns="0" tIns="0" rIns="0" bIns="0" rtlCol="0" anchor="ctr"/>
          <a:lstStyle/>
          <a:p>
            <a:pPr marL="0" indent="0">
              <a:buNone/>
            </a:pPr>
            <a:r>
              <a:rPr lang="en-US" b="1" dirty="0">
                <a:solidFill>
                  <a:srgbClr val="16232E"/>
                </a:solidFill>
                <a:latin typeface="Times New Roman" panose="02020603050405020304" pitchFamily="18" charset="0"/>
                <a:ea typeface="Calibri" pitchFamily="34" charset="-122"/>
                <a:cs typeface="Times New Roman" panose="02020603050405020304" pitchFamily="18" charset="0"/>
              </a:rPr>
              <a:t>Geometry</a:t>
            </a:r>
            <a:endParaRPr lang="en-US" dirty="0">
              <a:latin typeface="Times New Roman" panose="02020603050405020304" pitchFamily="18" charset="0"/>
              <a:cs typeface="Times New Roman" panose="02020603050405020304" pitchFamily="18" charset="0"/>
            </a:endParaRPr>
          </a:p>
        </p:txBody>
      </p:sp>
      <p:sp>
        <p:nvSpPr>
          <p:cNvPr id="9" name="Text 7"/>
          <p:cNvSpPr/>
          <p:nvPr/>
        </p:nvSpPr>
        <p:spPr>
          <a:xfrm>
            <a:off x="777240" y="2240280"/>
            <a:ext cx="3383280" cy="13258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6232E"/>
                </a:solidFill>
                <a:latin typeface="Times New Roman" panose="02020603050405020304" pitchFamily="18" charset="0"/>
                <a:ea typeface="Calibri" pitchFamily="34" charset="-122"/>
                <a:cs typeface="Times New Roman" panose="02020603050405020304" pitchFamily="18" charset="0"/>
              </a:rPr>
              <a:t>Base dimensions – (100*100*10)</a:t>
            </a:r>
            <a:r>
              <a:rPr lang="en-IN" sz="1600" dirty="0">
                <a:latin typeface="Times New Roman" panose="02020603050405020304" pitchFamily="18" charset="0"/>
                <a:cs typeface="Times New Roman" panose="02020603050405020304" pitchFamily="18" charset="0"/>
              </a:rPr>
              <a:t>mm³</a:t>
            </a:r>
            <a:r>
              <a:rPr lang="en-US" sz="1600" dirty="0">
                <a:solidFill>
                  <a:srgbClr val="16232E"/>
                </a:solidFill>
                <a:latin typeface="Times New Roman" panose="02020603050405020304" pitchFamily="18" charset="0"/>
                <a:ea typeface="Calibri" pitchFamily="34" charset="-122"/>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16232E"/>
                </a:solidFill>
                <a:latin typeface="Times New Roman" panose="02020603050405020304" pitchFamily="18" charset="0"/>
                <a:ea typeface="Calibri" pitchFamily="34" charset="-122"/>
                <a:cs typeface="Times New Roman" panose="02020603050405020304" pitchFamily="18" charset="0"/>
              </a:rPr>
              <a:t>Bead area – (30 *30) mm</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16232E"/>
                </a:solidFill>
                <a:latin typeface="Times New Roman" panose="02020603050405020304" pitchFamily="18" charset="0"/>
                <a:ea typeface="Calibri" pitchFamily="34" charset="-122"/>
                <a:cs typeface="Times New Roman" panose="02020603050405020304" pitchFamily="18" charset="0"/>
              </a:rPr>
              <a:t>Number of layers - 2</a:t>
            </a:r>
            <a:endParaRPr lang="en-US" sz="1600" dirty="0">
              <a:latin typeface="Times New Roman" panose="02020603050405020304" pitchFamily="18" charset="0"/>
              <a:cs typeface="Times New Roman" panose="02020603050405020304" pitchFamily="18" charset="0"/>
            </a:endParaRPr>
          </a:p>
        </p:txBody>
      </p:sp>
      <p:sp>
        <p:nvSpPr>
          <p:cNvPr id="10" name="Shape 8"/>
          <p:cNvSpPr/>
          <p:nvPr/>
        </p:nvSpPr>
        <p:spPr>
          <a:xfrm>
            <a:off x="4297680" y="1508760"/>
            <a:ext cx="3611880" cy="2148840"/>
          </a:xfrm>
          <a:prstGeom prst="roundRect">
            <a:avLst>
              <a:gd name="adj" fmla="val 3404"/>
            </a:avLst>
          </a:prstGeom>
          <a:solidFill>
            <a:srgbClr val="FFFFFF"/>
          </a:solidFill>
          <a:ln w="12700">
            <a:solidFill>
              <a:srgbClr val="C7D2DB"/>
            </a:solidFill>
            <a:prstDash val="solid"/>
          </a:ln>
          <a:effectLst>
            <a:outerShdw blurRad="101600" dist="25400" dir="5400000" algn="bl" rotWithShape="0">
              <a:srgbClr val="16232E">
                <a:alpha val="12000"/>
              </a:srgbClr>
            </a:outerShdw>
          </a:effectLst>
        </p:spPr>
      </p:sp>
      <p:sp>
        <p:nvSpPr>
          <p:cNvPr id="11" name="Shape 9"/>
          <p:cNvSpPr/>
          <p:nvPr/>
        </p:nvSpPr>
        <p:spPr>
          <a:xfrm>
            <a:off x="4526280" y="1737360"/>
            <a:ext cx="365760" cy="365760"/>
          </a:xfrm>
          <a:prstGeom prst="ellipse">
            <a:avLst/>
          </a:prstGeom>
          <a:solidFill>
            <a:srgbClr val="3A5068"/>
          </a:solidFill>
          <a:ln/>
        </p:spPr>
      </p:sp>
      <p:sp>
        <p:nvSpPr>
          <p:cNvPr id="12" name="Text 10"/>
          <p:cNvSpPr/>
          <p:nvPr/>
        </p:nvSpPr>
        <p:spPr>
          <a:xfrm>
            <a:off x="4526280" y="173736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mbria" pitchFamily="34" charset="-122"/>
                <a:cs typeface="Times New Roman" panose="02020603050405020304" pitchFamily="18" charset="0"/>
              </a:rPr>
              <a:t>2</a:t>
            </a:r>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4983480" y="1737360"/>
            <a:ext cx="2697480" cy="365760"/>
          </a:xfrm>
          <a:prstGeom prst="rect">
            <a:avLst/>
          </a:prstGeom>
          <a:noFill/>
          <a:ln/>
        </p:spPr>
        <p:txBody>
          <a:bodyPr wrap="square" lIns="0" tIns="0" rIns="0" bIns="0" rtlCol="0" anchor="ctr"/>
          <a:lstStyle/>
          <a:p>
            <a:pPr marL="0" indent="0">
              <a:buNone/>
            </a:pPr>
            <a:r>
              <a:rPr lang="en-US" b="1" dirty="0">
                <a:solidFill>
                  <a:srgbClr val="16232E"/>
                </a:solidFill>
                <a:latin typeface="Times New Roman" panose="02020603050405020304" pitchFamily="18" charset="0"/>
                <a:ea typeface="Calibri" pitchFamily="34" charset="-122"/>
                <a:cs typeface="Times New Roman" panose="02020603050405020304" pitchFamily="18" charset="0"/>
              </a:rPr>
              <a:t>Material</a:t>
            </a:r>
            <a:endParaRPr lang="en-US" dirty="0">
              <a:latin typeface="Times New Roman" panose="02020603050405020304" pitchFamily="18" charset="0"/>
              <a:cs typeface="Times New Roman" panose="02020603050405020304" pitchFamily="18" charset="0"/>
            </a:endParaRPr>
          </a:p>
        </p:txBody>
      </p:sp>
      <p:sp>
        <p:nvSpPr>
          <p:cNvPr id="14" name="Text 12"/>
          <p:cNvSpPr/>
          <p:nvPr/>
        </p:nvSpPr>
        <p:spPr>
          <a:xfrm>
            <a:off x="4526280" y="2240280"/>
            <a:ext cx="3154680" cy="1325880"/>
          </a:xfrm>
          <a:prstGeom prst="rect">
            <a:avLst/>
          </a:prstGeom>
          <a:noFill/>
          <a:ln/>
        </p:spPr>
        <p:txBody>
          <a:bodyPr wrap="square" lIns="0" tIns="0" rIns="0" bIns="0" rtlCol="0" anchor="t"/>
          <a:lstStyle/>
          <a:p>
            <a:pPr marL="228600" indent="-228600">
              <a:spcAft>
                <a:spcPts val="1000"/>
              </a:spcAft>
              <a:buSzPct val="100000"/>
              <a:buChar char="▪"/>
            </a:pPr>
            <a:r>
              <a:rPr lang="en-US" dirty="0">
                <a:latin typeface="Times New Roman" panose="02020603050405020304" pitchFamily="18" charset="0"/>
                <a:cs typeface="Times New Roman" panose="02020603050405020304" pitchFamily="18" charset="0"/>
              </a:rPr>
              <a:t>IN-718-sw</a:t>
            </a:r>
          </a:p>
          <a:p>
            <a:pPr>
              <a:spcAft>
                <a:spcPts val="1000"/>
              </a:spcAft>
              <a:buSzPct val="100000"/>
            </a:pPr>
            <a:r>
              <a:rPr lang="en-US" dirty="0">
                <a:latin typeface="Times New Roman" panose="02020603050405020304" pitchFamily="18" charset="0"/>
                <a:cs typeface="Times New Roman" panose="02020603050405020304" pitchFamily="18" charset="0"/>
              </a:rPr>
              <a:t>    A nickel-based alloy </a:t>
            </a:r>
          </a:p>
        </p:txBody>
      </p:sp>
      <p:sp>
        <p:nvSpPr>
          <p:cNvPr id="15" name="Shape 13"/>
          <p:cNvSpPr/>
          <p:nvPr/>
        </p:nvSpPr>
        <p:spPr>
          <a:xfrm>
            <a:off x="8046720" y="1508760"/>
            <a:ext cx="3611880" cy="2148840"/>
          </a:xfrm>
          <a:prstGeom prst="roundRect">
            <a:avLst>
              <a:gd name="adj" fmla="val 3404"/>
            </a:avLst>
          </a:prstGeom>
          <a:solidFill>
            <a:srgbClr val="FFFFFF"/>
          </a:solidFill>
          <a:ln w="12700">
            <a:solidFill>
              <a:srgbClr val="C7D2DB"/>
            </a:solidFill>
            <a:prstDash val="solid"/>
          </a:ln>
          <a:effectLst>
            <a:outerShdw blurRad="101600" dist="25400" dir="5400000" algn="bl" rotWithShape="0">
              <a:srgbClr val="16232E">
                <a:alpha val="12000"/>
              </a:srgbClr>
            </a:outerShdw>
          </a:effectLst>
        </p:spPr>
      </p:sp>
      <p:sp>
        <p:nvSpPr>
          <p:cNvPr id="16" name="Shape 14"/>
          <p:cNvSpPr/>
          <p:nvPr/>
        </p:nvSpPr>
        <p:spPr>
          <a:xfrm>
            <a:off x="8275320" y="1737360"/>
            <a:ext cx="365760" cy="365760"/>
          </a:xfrm>
          <a:prstGeom prst="ellipse">
            <a:avLst/>
          </a:prstGeom>
          <a:solidFill>
            <a:srgbClr val="3A5068"/>
          </a:solidFill>
          <a:ln/>
        </p:spPr>
      </p:sp>
      <p:sp>
        <p:nvSpPr>
          <p:cNvPr id="17" name="Text 15"/>
          <p:cNvSpPr/>
          <p:nvPr/>
        </p:nvSpPr>
        <p:spPr>
          <a:xfrm>
            <a:off x="8275320" y="1737360"/>
            <a:ext cx="365760" cy="365760"/>
          </a:xfrm>
          <a:prstGeom prst="rect">
            <a:avLst/>
          </a:prstGeom>
          <a:noFill/>
          <a:ln/>
        </p:spPr>
        <p:txBody>
          <a:bodyPr wrap="square" lIns="0" tIns="0" rIns="0" bIns="0" rtlCol="0" anchor="ctr"/>
          <a:lstStyle/>
          <a:p>
            <a:pPr marL="0" indent="0" algn="ctr">
              <a:buNone/>
            </a:pPr>
            <a:r>
              <a:rPr lang="en-US" b="1" dirty="0">
                <a:solidFill>
                  <a:srgbClr val="FFFFFF"/>
                </a:solidFill>
                <a:latin typeface="Times New Roman" panose="02020603050405020304" pitchFamily="18" charset="0"/>
                <a:ea typeface="Cambria" pitchFamily="34" charset="-122"/>
                <a:cs typeface="Times New Roman" panose="02020603050405020304" pitchFamily="18" charset="0"/>
              </a:rPr>
              <a:t>3</a:t>
            </a:r>
            <a:endParaRPr lang="en-US" dirty="0">
              <a:latin typeface="Times New Roman" panose="02020603050405020304" pitchFamily="18" charset="0"/>
              <a:cs typeface="Times New Roman" panose="02020603050405020304" pitchFamily="18" charset="0"/>
            </a:endParaRPr>
          </a:p>
        </p:txBody>
      </p:sp>
      <p:sp>
        <p:nvSpPr>
          <p:cNvPr id="18" name="Text 16"/>
          <p:cNvSpPr/>
          <p:nvPr/>
        </p:nvSpPr>
        <p:spPr>
          <a:xfrm>
            <a:off x="8732520" y="1737360"/>
            <a:ext cx="2697480" cy="365760"/>
          </a:xfrm>
          <a:prstGeom prst="rect">
            <a:avLst/>
          </a:prstGeom>
          <a:noFill/>
          <a:ln/>
        </p:spPr>
        <p:txBody>
          <a:bodyPr wrap="square" lIns="0" tIns="0" rIns="0" bIns="0" rtlCol="0" anchor="ctr"/>
          <a:lstStyle/>
          <a:p>
            <a:pPr marL="0" indent="0">
              <a:buNone/>
            </a:pPr>
            <a:r>
              <a:rPr lang="en-US" b="1" dirty="0">
                <a:solidFill>
                  <a:srgbClr val="16232E"/>
                </a:solidFill>
                <a:latin typeface="Times New Roman" panose="02020603050405020304" pitchFamily="18" charset="0"/>
                <a:ea typeface="Calibri" pitchFamily="34" charset="-122"/>
                <a:cs typeface="Times New Roman" panose="02020603050405020304" pitchFamily="18" charset="0"/>
              </a:rPr>
              <a:t>Welding Parameters</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8275320" y="2240280"/>
            <a:ext cx="3154680" cy="132588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16232E"/>
                </a:solidFill>
                <a:latin typeface="Times New Roman" panose="02020603050405020304" pitchFamily="18" charset="0"/>
                <a:ea typeface="Calibri" pitchFamily="34" charset="-122"/>
                <a:cs typeface="Times New Roman" panose="02020603050405020304" pitchFamily="18" charset="0"/>
              </a:rPr>
              <a:t>Current, voltage, welding speed</a:t>
            </a:r>
            <a:endParaRPr lang="en-US" sz="14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400" dirty="0">
                <a:solidFill>
                  <a:srgbClr val="16232E"/>
                </a:solidFill>
                <a:latin typeface="Times New Roman" panose="02020603050405020304" pitchFamily="18" charset="0"/>
                <a:ea typeface="Calibri" pitchFamily="34" charset="-122"/>
                <a:cs typeface="Times New Roman" panose="02020603050405020304" pitchFamily="18" charset="0"/>
              </a:rPr>
              <a:t>Heat-source efficiency</a:t>
            </a:r>
            <a:endParaRPr lang="en-US" sz="14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400" dirty="0">
                <a:solidFill>
                  <a:srgbClr val="16232E"/>
                </a:solidFill>
                <a:latin typeface="Times New Roman" panose="02020603050405020304" pitchFamily="18" charset="0"/>
                <a:ea typeface="Calibri" pitchFamily="34" charset="-122"/>
                <a:cs typeface="Times New Roman" panose="02020603050405020304" pitchFamily="18" charset="0"/>
              </a:rPr>
              <a:t>Deposition rate, layer height</a:t>
            </a:r>
            <a:endParaRPr lang="en-US" sz="1400" dirty="0">
              <a:latin typeface="Times New Roman" panose="02020603050405020304" pitchFamily="18" charset="0"/>
              <a:cs typeface="Times New Roman" panose="02020603050405020304" pitchFamily="18" charset="0"/>
            </a:endParaRPr>
          </a:p>
        </p:txBody>
      </p:sp>
      <p:graphicFrame>
        <p:nvGraphicFramePr>
          <p:cNvPr id="20" name="Table 0"/>
          <p:cNvGraphicFramePr>
            <a:graphicFrameLocks noGrp="1"/>
          </p:cNvGraphicFramePr>
          <p:nvPr>
            <p:extLst>
              <p:ext uri="{D42A27DB-BD31-4B8C-83A1-F6EECF244321}">
                <p14:modId xmlns:p14="http://schemas.microsoft.com/office/powerpoint/2010/main" val="1700142736"/>
              </p:ext>
            </p:extLst>
          </p:nvPr>
        </p:nvGraphicFramePr>
        <p:xfrm>
          <a:off x="548640" y="3886200"/>
          <a:ext cx="11064240" cy="2395728"/>
        </p:xfrm>
        <a:graphic>
          <a:graphicData uri="http://schemas.openxmlformats.org/drawingml/2006/table">
            <a:tbl>
              <a:tblPr/>
              <a:tblGrid>
                <a:gridCol w="411480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tblGrid>
              <a:tr h="365760">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Input</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solidFill>
                      <a:srgbClr val="3A5068"/>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Purpose</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solidFill>
                      <a:srgbClr val="3A5068"/>
                    </a:solidFill>
                  </a:tcPr>
                </a:tc>
                <a:extLst>
                  <a:ext uri="{0D108BD9-81ED-4DB2-BD59-A6C34878D82A}">
                    <a16:rowId xmlns:a16="http://schemas.microsoft.com/office/drawing/2014/main" val="10000"/>
                  </a:ext>
                </a:extLst>
              </a:tr>
              <a:tr h="338328">
                <a:tc>
                  <a:txBody>
                    <a:bodyPr/>
                    <a:lstStyle/>
                    <a:p>
                      <a:pPr marL="0" indent="0">
                        <a:buNone/>
                      </a:pPr>
                      <a:r>
                        <a:rPr lang="en-US" sz="1600" dirty="0">
                          <a:solidFill>
                            <a:srgbClr val="16232E"/>
                          </a:solidFill>
                          <a:latin typeface="Calibri" pitchFamily="34" charset="0"/>
                          <a:ea typeface="Calibri" pitchFamily="34" charset="-122"/>
                          <a:cs typeface="Calibri" pitchFamily="34" charset="-120"/>
                        </a:rPr>
                        <a:t>Geometry</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buNone/>
                      </a:pPr>
                      <a:r>
                        <a:rPr lang="en-US" sz="1600" dirty="0">
                          <a:solidFill>
                            <a:srgbClr val="16232E"/>
                          </a:solidFill>
                          <a:latin typeface="Calibri" pitchFamily="34" charset="0"/>
                          <a:ea typeface="Calibri" pitchFamily="34" charset="-122"/>
                          <a:cs typeface="Calibri" pitchFamily="34" charset="-120"/>
                        </a:rPr>
                        <a:t>Defines the physical model</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extLst>
                  <a:ext uri="{0D108BD9-81ED-4DB2-BD59-A6C34878D82A}">
                    <a16:rowId xmlns:a16="http://schemas.microsoft.com/office/drawing/2014/main" val="10001"/>
                  </a:ext>
                </a:extLst>
              </a:tr>
              <a:tr h="338328">
                <a:tc>
                  <a:txBody>
                    <a:bodyPr/>
                    <a:lstStyle/>
                    <a:p>
                      <a:pPr marL="0" indent="0">
                        <a:buNone/>
                      </a:pPr>
                      <a:r>
                        <a:rPr lang="en-US" sz="1600" dirty="0">
                          <a:solidFill>
                            <a:srgbClr val="16232E"/>
                          </a:solidFill>
                          <a:latin typeface="Calibri" pitchFamily="34" charset="0"/>
                          <a:ea typeface="Calibri" pitchFamily="34" charset="-122"/>
                          <a:cs typeface="Calibri" pitchFamily="34" charset="-120"/>
                        </a:rPr>
                        <a:t>Material properties</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buNone/>
                      </a:pPr>
                      <a:r>
                        <a:rPr lang="en-US" sz="1600" dirty="0">
                          <a:solidFill>
                            <a:srgbClr val="16232E"/>
                          </a:solidFill>
                          <a:latin typeface="Calibri" pitchFamily="34" charset="0"/>
                          <a:ea typeface="Calibri" pitchFamily="34" charset="-122"/>
                          <a:cs typeface="Calibri" pitchFamily="34" charset="-120"/>
                        </a:rPr>
                        <a:t>Defines material behaviour</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extLst>
                  <a:ext uri="{0D108BD9-81ED-4DB2-BD59-A6C34878D82A}">
                    <a16:rowId xmlns:a16="http://schemas.microsoft.com/office/drawing/2014/main" val="10002"/>
                  </a:ext>
                </a:extLst>
              </a:tr>
              <a:tr h="338328">
                <a:tc>
                  <a:txBody>
                    <a:bodyPr/>
                    <a:lstStyle/>
                    <a:p>
                      <a:pPr marL="0" indent="0">
                        <a:buNone/>
                      </a:pPr>
                      <a:r>
                        <a:rPr lang="en-US" sz="1600" dirty="0">
                          <a:solidFill>
                            <a:srgbClr val="16232E"/>
                          </a:solidFill>
                          <a:latin typeface="Calibri" pitchFamily="34" charset="0"/>
                          <a:ea typeface="Calibri" pitchFamily="34" charset="-122"/>
                          <a:cs typeface="Calibri" pitchFamily="34" charset="-120"/>
                        </a:rPr>
                        <a:t>Heat source</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buNone/>
                      </a:pPr>
                      <a:r>
                        <a:rPr lang="en-US" sz="1600" dirty="0">
                          <a:solidFill>
                            <a:srgbClr val="16232E"/>
                          </a:solidFill>
                          <a:latin typeface="Calibri" pitchFamily="34" charset="0"/>
                          <a:ea typeface="Calibri" pitchFamily="34" charset="-122"/>
                          <a:cs typeface="Calibri" pitchFamily="34" charset="-120"/>
                        </a:rPr>
                        <a:t>Represents the welding heat</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extLst>
                  <a:ext uri="{0D108BD9-81ED-4DB2-BD59-A6C34878D82A}">
                    <a16:rowId xmlns:a16="http://schemas.microsoft.com/office/drawing/2014/main" val="10003"/>
                  </a:ext>
                </a:extLst>
              </a:tr>
              <a:tr h="338328">
                <a:tc>
                  <a:txBody>
                    <a:bodyPr/>
                    <a:lstStyle/>
                    <a:p>
                      <a:pPr marL="0" indent="0">
                        <a:buNone/>
                      </a:pPr>
                      <a:r>
                        <a:rPr lang="en-US" sz="1600" dirty="0">
                          <a:solidFill>
                            <a:srgbClr val="16232E"/>
                          </a:solidFill>
                          <a:latin typeface="Calibri" pitchFamily="34" charset="0"/>
                          <a:ea typeface="Calibri" pitchFamily="34" charset="-122"/>
                          <a:cs typeface="Calibri" pitchFamily="34" charset="-120"/>
                        </a:rPr>
                        <a:t>Welding speed</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buNone/>
                      </a:pPr>
                      <a:r>
                        <a:rPr lang="en-US" sz="1600" dirty="0">
                          <a:solidFill>
                            <a:srgbClr val="16232E"/>
                          </a:solidFill>
                          <a:latin typeface="Calibri" pitchFamily="34" charset="0"/>
                          <a:ea typeface="Calibri" pitchFamily="34" charset="-122"/>
                          <a:cs typeface="Calibri" pitchFamily="34" charset="-120"/>
                        </a:rPr>
                        <a:t>Controls heat-source movement</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extLst>
                  <a:ext uri="{0D108BD9-81ED-4DB2-BD59-A6C34878D82A}">
                    <a16:rowId xmlns:a16="http://schemas.microsoft.com/office/drawing/2014/main" val="10004"/>
                  </a:ext>
                </a:extLst>
              </a:tr>
              <a:tr h="338328">
                <a:tc>
                  <a:txBody>
                    <a:bodyPr/>
                    <a:lstStyle/>
                    <a:p>
                      <a:pPr marL="0" indent="0">
                        <a:buNone/>
                      </a:pPr>
                      <a:r>
                        <a:rPr lang="en-US" sz="1600" dirty="0">
                          <a:solidFill>
                            <a:srgbClr val="16232E"/>
                          </a:solidFill>
                          <a:latin typeface="Calibri" pitchFamily="34" charset="0"/>
                          <a:ea typeface="Calibri" pitchFamily="34" charset="-122"/>
                          <a:cs typeface="Calibri" pitchFamily="34" charset="-120"/>
                        </a:rPr>
                        <a:t>Boundary conditions</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buNone/>
                      </a:pPr>
                      <a:r>
                        <a:rPr lang="en-US" sz="1600" dirty="0">
                          <a:solidFill>
                            <a:srgbClr val="16232E"/>
                          </a:solidFill>
                          <a:latin typeface="Calibri" pitchFamily="34" charset="0"/>
                          <a:ea typeface="Calibri" pitchFamily="34" charset="-122"/>
                          <a:cs typeface="Calibri" pitchFamily="34" charset="-120"/>
                        </a:rPr>
                        <a:t>Represents real-world constraints</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extLst>
                  <a:ext uri="{0D108BD9-81ED-4DB2-BD59-A6C34878D82A}">
                    <a16:rowId xmlns:a16="http://schemas.microsoft.com/office/drawing/2014/main" val="10005"/>
                  </a:ext>
                </a:extLst>
              </a:tr>
              <a:tr h="338328">
                <a:tc>
                  <a:txBody>
                    <a:bodyPr/>
                    <a:lstStyle/>
                    <a:p>
                      <a:pPr marL="0" indent="0">
                        <a:buNone/>
                      </a:pPr>
                      <a:r>
                        <a:rPr lang="en-US" sz="1600" dirty="0">
                          <a:solidFill>
                            <a:srgbClr val="16232E"/>
                          </a:solidFill>
                          <a:latin typeface="Calibri" pitchFamily="34" charset="0"/>
                          <a:ea typeface="Calibri" pitchFamily="34" charset="-122"/>
                          <a:cs typeface="Calibri" pitchFamily="34" charset="-120"/>
                        </a:rPr>
                        <a:t>Mesh</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buNone/>
                      </a:pPr>
                      <a:r>
                        <a:rPr lang="en-US" sz="1600" dirty="0">
                          <a:solidFill>
                            <a:srgbClr val="16232E"/>
                          </a:solidFill>
                          <a:latin typeface="Calibri" pitchFamily="34" charset="0"/>
                          <a:ea typeface="Calibri" pitchFamily="34" charset="-122"/>
                          <a:cs typeface="Calibri" pitchFamily="34" charset="-120"/>
                        </a:rPr>
                        <a:t>Converts geometry into an FE model</a:t>
                      </a:r>
                      <a:endParaRPr lang="en-US" sz="1600" dirty="0">
                        <a:latin typeface="Calibri" charset="0"/>
                        <a:ea typeface="Calibri" charset="0"/>
                        <a:cs typeface="Calibri"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1" name="Text 18"/>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D6E7C"/>
                </a:solidFill>
                <a:latin typeface="Times New Roman" panose="02020603050405020304" pitchFamily="18" charset="0"/>
                <a:ea typeface="Calibri" pitchFamily="34" charset="-122"/>
                <a:cs typeface="Times New Roman" panose="02020603050405020304" pitchFamily="18" charset="0"/>
              </a:rPr>
              <a:t>Simulation Setup</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3F5F7"/>
        </a:solidFill>
        <a:effectLst/>
      </p:bgPr>
    </p:bg>
    <p:spTree>
      <p:nvGrpSpPr>
        <p:cNvPr id="1" name=""/>
        <p:cNvGrpSpPr/>
        <p:nvPr/>
      </p:nvGrpSpPr>
      <p:grpSpPr>
        <a:xfrm>
          <a:off x="0" y="0"/>
          <a:ext cx="0" cy="0"/>
          <a:chOff x="0" y="0"/>
          <a:chExt cx="0" cy="0"/>
        </a:xfrm>
      </p:grpSpPr>
      <p:sp>
        <p:nvSpPr>
          <p:cNvPr id="3" name="Text 1"/>
          <p:cNvSpPr/>
          <p:nvPr/>
        </p:nvSpPr>
        <p:spPr>
          <a:xfrm>
            <a:off x="548640" y="566928"/>
            <a:ext cx="10789920" cy="685800"/>
          </a:xfrm>
          <a:prstGeom prst="rect">
            <a:avLst/>
          </a:prstGeom>
          <a:noFill/>
          <a:ln/>
        </p:spPr>
        <p:txBody>
          <a:bodyPr wrap="square" lIns="0" tIns="0" rIns="0" bIns="0" rtlCol="0" anchor="ctr"/>
          <a:lstStyle/>
          <a:p>
            <a:pPr marL="0" indent="0" algn="ctr">
              <a:buNone/>
            </a:pPr>
            <a:r>
              <a:rPr lang="en-US" sz="3000" b="1" dirty="0">
                <a:solidFill>
                  <a:srgbClr val="16232E"/>
                </a:solidFill>
                <a:latin typeface="Cambria" pitchFamily="34" charset="0"/>
                <a:ea typeface="Cambria" pitchFamily="34" charset="-122"/>
                <a:cs typeface="Cambria" pitchFamily="34" charset="-120"/>
              </a:rPr>
              <a:t>Simulation Workflow in MSC Simufact Welding 2024</a:t>
            </a:r>
            <a:endParaRPr lang="en-US" sz="3000" dirty="0"/>
          </a:p>
        </p:txBody>
      </p:sp>
      <p:sp>
        <p:nvSpPr>
          <p:cNvPr id="5" name="Shape 3"/>
          <p:cNvSpPr/>
          <p:nvPr/>
        </p:nvSpPr>
        <p:spPr>
          <a:xfrm>
            <a:off x="548640" y="1499616"/>
            <a:ext cx="2121408" cy="960120"/>
          </a:xfrm>
          <a:prstGeom prst="roundRect">
            <a:avLst>
              <a:gd name="adj" fmla="val 7619"/>
            </a:avLst>
          </a:prstGeom>
          <a:solidFill>
            <a:srgbClr val="3A5068"/>
          </a:solidFill>
          <a:ln/>
          <a:effectLst>
            <a:outerShdw blurRad="63500" dist="25400" dir="5400000" algn="bl" rotWithShape="0">
              <a:srgbClr val="16232E">
                <a:alpha val="15000"/>
              </a:srgbClr>
            </a:outerShdw>
          </a:effectLst>
        </p:spPr>
      </p:sp>
      <p:sp>
        <p:nvSpPr>
          <p:cNvPr id="6" name="Text 4"/>
          <p:cNvSpPr/>
          <p:nvPr/>
        </p:nvSpPr>
        <p:spPr>
          <a:xfrm>
            <a:off x="640080" y="1554480"/>
            <a:ext cx="365760" cy="27432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658368" y="1792224"/>
            <a:ext cx="1901952" cy="5943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Create / Import Geometry</a:t>
            </a:r>
            <a:endParaRPr lang="en-US" sz="1400" dirty="0"/>
          </a:p>
        </p:txBody>
      </p:sp>
      <p:sp>
        <p:nvSpPr>
          <p:cNvPr id="8" name="Shape 6"/>
          <p:cNvSpPr/>
          <p:nvPr/>
        </p:nvSpPr>
        <p:spPr>
          <a:xfrm>
            <a:off x="548640" y="3050550"/>
            <a:ext cx="2121408" cy="960120"/>
          </a:xfrm>
          <a:prstGeom prst="roundRect">
            <a:avLst>
              <a:gd name="adj" fmla="val 7619"/>
            </a:avLst>
          </a:prstGeom>
          <a:solidFill>
            <a:srgbClr val="5D7185"/>
          </a:solidFill>
          <a:ln/>
          <a:effectLst>
            <a:outerShdw blurRad="63500" dist="25400" dir="5400000" algn="bl" rotWithShape="0">
              <a:srgbClr val="16232E">
                <a:alpha val="15000"/>
              </a:srgbClr>
            </a:outerShdw>
          </a:effectLst>
        </p:spPr>
      </p:sp>
      <p:sp>
        <p:nvSpPr>
          <p:cNvPr id="9" name="Text 7"/>
          <p:cNvSpPr/>
          <p:nvPr/>
        </p:nvSpPr>
        <p:spPr>
          <a:xfrm>
            <a:off x="640080" y="3105414"/>
            <a:ext cx="365760" cy="27432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658368" y="3343158"/>
            <a:ext cx="1901952" cy="5943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Define Material</a:t>
            </a:r>
            <a:endParaRPr lang="en-US" sz="1400" dirty="0"/>
          </a:p>
        </p:txBody>
      </p:sp>
      <p:sp>
        <p:nvSpPr>
          <p:cNvPr id="11" name="Shape 9"/>
          <p:cNvSpPr/>
          <p:nvPr/>
        </p:nvSpPr>
        <p:spPr>
          <a:xfrm>
            <a:off x="548640" y="4567894"/>
            <a:ext cx="2121408" cy="960120"/>
          </a:xfrm>
          <a:prstGeom prst="roundRect">
            <a:avLst>
              <a:gd name="adj" fmla="val 7619"/>
            </a:avLst>
          </a:prstGeom>
          <a:solidFill>
            <a:srgbClr val="3A5068"/>
          </a:solidFill>
          <a:ln/>
          <a:effectLst>
            <a:outerShdw blurRad="63500" dist="25400" dir="5400000" algn="bl" rotWithShape="0">
              <a:srgbClr val="16232E">
                <a:alpha val="15000"/>
              </a:srgbClr>
            </a:outerShdw>
          </a:effectLst>
        </p:spPr>
      </p:sp>
      <p:sp>
        <p:nvSpPr>
          <p:cNvPr id="12" name="Text 10"/>
          <p:cNvSpPr/>
          <p:nvPr/>
        </p:nvSpPr>
        <p:spPr>
          <a:xfrm>
            <a:off x="640080" y="4622758"/>
            <a:ext cx="365760" cy="27432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3</a:t>
            </a:r>
            <a:endParaRPr lang="en-US" sz="1600" dirty="0"/>
          </a:p>
        </p:txBody>
      </p:sp>
      <p:sp>
        <p:nvSpPr>
          <p:cNvPr id="13" name="Text 11"/>
          <p:cNvSpPr/>
          <p:nvPr/>
        </p:nvSpPr>
        <p:spPr>
          <a:xfrm>
            <a:off x="658368" y="4860502"/>
            <a:ext cx="1901952" cy="5943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Generate Mesh</a:t>
            </a:r>
            <a:endParaRPr lang="en-US" sz="1400" dirty="0"/>
          </a:p>
        </p:txBody>
      </p:sp>
      <p:sp>
        <p:nvSpPr>
          <p:cNvPr id="14" name="Shape 12"/>
          <p:cNvSpPr/>
          <p:nvPr/>
        </p:nvSpPr>
        <p:spPr>
          <a:xfrm>
            <a:off x="3127248" y="1504188"/>
            <a:ext cx="2121408" cy="960120"/>
          </a:xfrm>
          <a:prstGeom prst="roundRect">
            <a:avLst>
              <a:gd name="adj" fmla="val 7619"/>
            </a:avLst>
          </a:prstGeom>
          <a:solidFill>
            <a:srgbClr val="5D7185"/>
          </a:solidFill>
          <a:ln/>
          <a:effectLst>
            <a:outerShdw blurRad="63500" dist="25400" dir="5400000" algn="bl" rotWithShape="0">
              <a:srgbClr val="16232E">
                <a:alpha val="15000"/>
              </a:srgbClr>
            </a:outerShdw>
          </a:effectLst>
        </p:spPr>
      </p:sp>
      <p:sp>
        <p:nvSpPr>
          <p:cNvPr id="15" name="Text 13"/>
          <p:cNvSpPr/>
          <p:nvPr/>
        </p:nvSpPr>
        <p:spPr>
          <a:xfrm>
            <a:off x="3218688" y="1559052"/>
            <a:ext cx="365760" cy="27432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4</a:t>
            </a:r>
            <a:endParaRPr lang="en-US" sz="1600" dirty="0"/>
          </a:p>
        </p:txBody>
      </p:sp>
      <p:sp>
        <p:nvSpPr>
          <p:cNvPr id="16" name="Text 14"/>
          <p:cNvSpPr/>
          <p:nvPr/>
        </p:nvSpPr>
        <p:spPr>
          <a:xfrm>
            <a:off x="3236976" y="1796796"/>
            <a:ext cx="1901952" cy="5943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Define Heat Source</a:t>
            </a:r>
            <a:endParaRPr lang="en-US" sz="1400" dirty="0"/>
          </a:p>
        </p:txBody>
      </p:sp>
      <p:sp>
        <p:nvSpPr>
          <p:cNvPr id="17" name="Shape 15"/>
          <p:cNvSpPr/>
          <p:nvPr/>
        </p:nvSpPr>
        <p:spPr>
          <a:xfrm>
            <a:off x="3127248" y="3047098"/>
            <a:ext cx="2121408" cy="960120"/>
          </a:xfrm>
          <a:prstGeom prst="roundRect">
            <a:avLst>
              <a:gd name="adj" fmla="val 7619"/>
            </a:avLst>
          </a:prstGeom>
          <a:solidFill>
            <a:srgbClr val="3A5068"/>
          </a:solidFill>
          <a:ln/>
          <a:effectLst>
            <a:outerShdw blurRad="63500" dist="25400" dir="5400000" algn="bl" rotWithShape="0">
              <a:srgbClr val="16232E">
                <a:alpha val="15000"/>
              </a:srgbClr>
            </a:outerShdw>
          </a:effectLst>
        </p:spPr>
      </p:sp>
      <p:sp>
        <p:nvSpPr>
          <p:cNvPr id="18" name="Text 16"/>
          <p:cNvSpPr/>
          <p:nvPr/>
        </p:nvSpPr>
        <p:spPr>
          <a:xfrm>
            <a:off x="3218688" y="3101962"/>
            <a:ext cx="365760" cy="27432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5</a:t>
            </a:r>
            <a:endParaRPr lang="en-US" sz="1600" dirty="0"/>
          </a:p>
        </p:txBody>
      </p:sp>
      <p:sp>
        <p:nvSpPr>
          <p:cNvPr id="19" name="Text 17"/>
          <p:cNvSpPr/>
          <p:nvPr/>
        </p:nvSpPr>
        <p:spPr>
          <a:xfrm>
            <a:off x="3236976" y="3339706"/>
            <a:ext cx="1901952" cy="5943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Define Deposition / Welding Path</a:t>
            </a:r>
            <a:endParaRPr lang="en-US" sz="1400" dirty="0"/>
          </a:p>
        </p:txBody>
      </p:sp>
      <p:sp>
        <p:nvSpPr>
          <p:cNvPr id="21" name="Shape 19"/>
          <p:cNvSpPr/>
          <p:nvPr/>
        </p:nvSpPr>
        <p:spPr>
          <a:xfrm>
            <a:off x="3127248" y="4566867"/>
            <a:ext cx="2121408" cy="960120"/>
          </a:xfrm>
          <a:prstGeom prst="roundRect">
            <a:avLst>
              <a:gd name="adj" fmla="val 7619"/>
            </a:avLst>
          </a:prstGeom>
          <a:solidFill>
            <a:srgbClr val="5D7185"/>
          </a:solidFill>
          <a:ln/>
          <a:effectLst>
            <a:outerShdw blurRad="63500" dist="25400" dir="5400000" algn="bl" rotWithShape="0">
              <a:srgbClr val="16232E">
                <a:alpha val="15000"/>
              </a:srgbClr>
            </a:outerShdw>
          </a:effectLst>
        </p:spPr>
      </p:sp>
      <p:sp>
        <p:nvSpPr>
          <p:cNvPr id="22" name="Text 20"/>
          <p:cNvSpPr/>
          <p:nvPr/>
        </p:nvSpPr>
        <p:spPr>
          <a:xfrm>
            <a:off x="3218688" y="4621731"/>
            <a:ext cx="365760" cy="27432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6</a:t>
            </a:r>
            <a:endParaRPr lang="en-US" sz="1600" dirty="0"/>
          </a:p>
        </p:txBody>
      </p:sp>
      <p:sp>
        <p:nvSpPr>
          <p:cNvPr id="23" name="Text 21"/>
          <p:cNvSpPr/>
          <p:nvPr/>
        </p:nvSpPr>
        <p:spPr>
          <a:xfrm>
            <a:off x="3236976" y="4859475"/>
            <a:ext cx="1901952" cy="5943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Define Process Parameters</a:t>
            </a:r>
            <a:endParaRPr lang="en-US" sz="1400" dirty="0"/>
          </a:p>
        </p:txBody>
      </p:sp>
      <p:sp>
        <p:nvSpPr>
          <p:cNvPr id="24" name="Shape 22"/>
          <p:cNvSpPr/>
          <p:nvPr/>
        </p:nvSpPr>
        <p:spPr>
          <a:xfrm>
            <a:off x="5705856" y="1504188"/>
            <a:ext cx="2121408" cy="960120"/>
          </a:xfrm>
          <a:prstGeom prst="roundRect">
            <a:avLst>
              <a:gd name="adj" fmla="val 7619"/>
            </a:avLst>
          </a:prstGeom>
          <a:solidFill>
            <a:srgbClr val="3A5068"/>
          </a:solidFill>
          <a:ln/>
          <a:effectLst>
            <a:outerShdw blurRad="63500" dist="25400" dir="5400000" algn="bl" rotWithShape="0">
              <a:srgbClr val="16232E">
                <a:alpha val="15000"/>
              </a:srgbClr>
            </a:outerShdw>
          </a:effectLst>
        </p:spPr>
      </p:sp>
      <p:sp>
        <p:nvSpPr>
          <p:cNvPr id="25" name="Text 23"/>
          <p:cNvSpPr/>
          <p:nvPr/>
        </p:nvSpPr>
        <p:spPr>
          <a:xfrm>
            <a:off x="5797296" y="1559052"/>
            <a:ext cx="365760" cy="27432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7</a:t>
            </a:r>
            <a:endParaRPr lang="en-US" sz="1600" dirty="0"/>
          </a:p>
        </p:txBody>
      </p:sp>
      <p:sp>
        <p:nvSpPr>
          <p:cNvPr id="26" name="Text 24"/>
          <p:cNvSpPr/>
          <p:nvPr/>
        </p:nvSpPr>
        <p:spPr>
          <a:xfrm>
            <a:off x="5815584" y="1796796"/>
            <a:ext cx="1901952" cy="5943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Define Thermal Boundary Conditions</a:t>
            </a:r>
            <a:endParaRPr lang="en-US" sz="1400" dirty="0"/>
          </a:p>
        </p:txBody>
      </p:sp>
      <p:sp>
        <p:nvSpPr>
          <p:cNvPr id="27" name="Shape 25"/>
          <p:cNvSpPr/>
          <p:nvPr/>
        </p:nvSpPr>
        <p:spPr>
          <a:xfrm>
            <a:off x="5705856" y="3050550"/>
            <a:ext cx="2121408" cy="960120"/>
          </a:xfrm>
          <a:prstGeom prst="roundRect">
            <a:avLst>
              <a:gd name="adj" fmla="val 7619"/>
            </a:avLst>
          </a:prstGeom>
          <a:solidFill>
            <a:srgbClr val="5D7185"/>
          </a:solidFill>
          <a:ln/>
          <a:effectLst>
            <a:outerShdw blurRad="63500" dist="25400" dir="5400000" algn="bl" rotWithShape="0">
              <a:srgbClr val="16232E">
                <a:alpha val="15000"/>
              </a:srgbClr>
            </a:outerShdw>
          </a:effectLst>
        </p:spPr>
      </p:sp>
      <p:sp>
        <p:nvSpPr>
          <p:cNvPr id="28" name="Text 26"/>
          <p:cNvSpPr/>
          <p:nvPr/>
        </p:nvSpPr>
        <p:spPr>
          <a:xfrm>
            <a:off x="5797296" y="3105414"/>
            <a:ext cx="365760" cy="27432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8</a:t>
            </a:r>
            <a:endParaRPr lang="en-US" sz="1600" dirty="0"/>
          </a:p>
        </p:txBody>
      </p:sp>
      <p:sp>
        <p:nvSpPr>
          <p:cNvPr id="29" name="Text 27"/>
          <p:cNvSpPr/>
          <p:nvPr/>
        </p:nvSpPr>
        <p:spPr>
          <a:xfrm>
            <a:off x="5815584" y="3343158"/>
            <a:ext cx="1901952" cy="5943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Define Mechanical Constraints</a:t>
            </a:r>
            <a:endParaRPr lang="en-US" sz="1400" dirty="0"/>
          </a:p>
        </p:txBody>
      </p:sp>
      <p:sp>
        <p:nvSpPr>
          <p:cNvPr id="30" name="Shape 28"/>
          <p:cNvSpPr/>
          <p:nvPr/>
        </p:nvSpPr>
        <p:spPr>
          <a:xfrm>
            <a:off x="5705856" y="4568547"/>
            <a:ext cx="2121408" cy="960120"/>
          </a:xfrm>
          <a:prstGeom prst="roundRect">
            <a:avLst>
              <a:gd name="adj" fmla="val 7619"/>
            </a:avLst>
          </a:prstGeom>
          <a:solidFill>
            <a:srgbClr val="3A5068"/>
          </a:solidFill>
          <a:ln/>
          <a:effectLst>
            <a:outerShdw blurRad="63500" dist="25400" dir="5400000" algn="bl" rotWithShape="0">
              <a:srgbClr val="16232E">
                <a:alpha val="15000"/>
              </a:srgbClr>
            </a:outerShdw>
          </a:effectLst>
        </p:spPr>
      </p:sp>
      <p:sp>
        <p:nvSpPr>
          <p:cNvPr id="31" name="Text 29"/>
          <p:cNvSpPr/>
          <p:nvPr/>
        </p:nvSpPr>
        <p:spPr>
          <a:xfrm>
            <a:off x="5797296" y="4623411"/>
            <a:ext cx="365760" cy="27432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9</a:t>
            </a:r>
            <a:endParaRPr lang="en-US" sz="1600" dirty="0"/>
          </a:p>
        </p:txBody>
      </p:sp>
      <p:sp>
        <p:nvSpPr>
          <p:cNvPr id="32" name="Text 30"/>
          <p:cNvSpPr/>
          <p:nvPr/>
        </p:nvSpPr>
        <p:spPr>
          <a:xfrm>
            <a:off x="5815584" y="4861155"/>
            <a:ext cx="1901952" cy="59436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Run Simulation</a:t>
            </a:r>
            <a:endParaRPr lang="en-US" sz="1400" dirty="0"/>
          </a:p>
        </p:txBody>
      </p:sp>
      <p:sp>
        <p:nvSpPr>
          <p:cNvPr id="33" name="Shape 31"/>
          <p:cNvSpPr/>
          <p:nvPr/>
        </p:nvSpPr>
        <p:spPr>
          <a:xfrm>
            <a:off x="9095232" y="3063332"/>
            <a:ext cx="2121408" cy="960120"/>
          </a:xfrm>
          <a:prstGeom prst="roundRect">
            <a:avLst>
              <a:gd name="adj" fmla="val 7619"/>
            </a:avLst>
          </a:prstGeom>
          <a:solidFill>
            <a:srgbClr val="F2A93B"/>
          </a:solidFill>
          <a:ln/>
          <a:effectLst>
            <a:outerShdw blurRad="63500" dist="25400" dir="5400000" algn="bl" rotWithShape="0">
              <a:srgbClr val="16232E">
                <a:alpha val="15000"/>
              </a:srgbClr>
            </a:outerShdw>
          </a:effectLst>
        </p:spPr>
      </p:sp>
      <p:sp>
        <p:nvSpPr>
          <p:cNvPr id="34" name="Text 32"/>
          <p:cNvSpPr/>
          <p:nvPr/>
        </p:nvSpPr>
        <p:spPr>
          <a:xfrm>
            <a:off x="9241536" y="3154680"/>
            <a:ext cx="365760" cy="274320"/>
          </a:xfrm>
          <a:prstGeom prst="rect">
            <a:avLst/>
          </a:prstGeom>
          <a:noFill/>
          <a:ln/>
        </p:spPr>
        <p:txBody>
          <a:bodyPr wrap="square" lIns="0" tIns="0" rIns="0" bIns="0" rtlCol="0" anchor="ctr"/>
          <a:lstStyle/>
          <a:p>
            <a:pPr marL="0" indent="0">
              <a:buNone/>
            </a:pPr>
            <a:r>
              <a:rPr lang="en-US" sz="1600" b="1" dirty="0">
                <a:solidFill>
                  <a:srgbClr val="16232E"/>
                </a:solidFill>
                <a:latin typeface="Cambria" pitchFamily="34" charset="0"/>
                <a:ea typeface="Cambria" pitchFamily="34" charset="-122"/>
                <a:cs typeface="Cambria" pitchFamily="34" charset="-120"/>
              </a:rPr>
              <a:t>10</a:t>
            </a:r>
            <a:endParaRPr lang="en-US" sz="1600" dirty="0"/>
          </a:p>
        </p:txBody>
      </p:sp>
      <p:sp>
        <p:nvSpPr>
          <p:cNvPr id="35" name="Text 33"/>
          <p:cNvSpPr/>
          <p:nvPr/>
        </p:nvSpPr>
        <p:spPr>
          <a:xfrm>
            <a:off x="9241536" y="3527158"/>
            <a:ext cx="1901952" cy="594360"/>
          </a:xfrm>
          <a:prstGeom prst="rect">
            <a:avLst/>
          </a:prstGeom>
          <a:noFill/>
          <a:ln/>
        </p:spPr>
        <p:txBody>
          <a:bodyPr wrap="square" lIns="0" tIns="0" rIns="0" bIns="0" rtlCol="0" anchor="t"/>
          <a:lstStyle/>
          <a:p>
            <a:pPr marL="0" indent="0">
              <a:buNone/>
            </a:pPr>
            <a:r>
              <a:rPr lang="en-US" sz="1400" b="1" dirty="0">
                <a:solidFill>
                  <a:srgbClr val="16232E"/>
                </a:solidFill>
                <a:latin typeface="Calibri" pitchFamily="34" charset="0"/>
                <a:ea typeface="Calibri" pitchFamily="34" charset="-122"/>
                <a:cs typeface="Calibri" pitchFamily="34" charset="-120"/>
              </a:rPr>
              <a:t>Post-Process Results</a:t>
            </a:r>
            <a:endParaRPr lang="en-US" sz="1400" dirty="0"/>
          </a:p>
        </p:txBody>
      </p:sp>
      <p:sp>
        <p:nvSpPr>
          <p:cNvPr id="42" name="Text 40"/>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900" dirty="0">
                <a:solidFill>
                  <a:srgbClr val="5D6E7C"/>
                </a:solidFill>
                <a:latin typeface="Calibri" pitchFamily="34" charset="0"/>
                <a:ea typeface="Calibri" pitchFamily="34" charset="-122"/>
                <a:cs typeface="Calibri" pitchFamily="34" charset="-120"/>
              </a:rPr>
              <a:t>Simulation Setup</a:t>
            </a:r>
            <a:endParaRPr lang="en-US" sz="900" dirty="0"/>
          </a:p>
        </p:txBody>
      </p:sp>
      <p:sp>
        <p:nvSpPr>
          <p:cNvPr id="36" name="Arrow: Down 35">
            <a:extLst>
              <a:ext uri="{FF2B5EF4-FFF2-40B4-BE49-F238E27FC236}">
                <a16:creationId xmlns:a16="http://schemas.microsoft.com/office/drawing/2014/main" id="{06ECB5B4-1E0D-625F-2757-0EB065107569}"/>
              </a:ext>
            </a:extLst>
          </p:cNvPr>
          <p:cNvSpPr/>
          <p:nvPr/>
        </p:nvSpPr>
        <p:spPr>
          <a:xfrm>
            <a:off x="1390261" y="2515393"/>
            <a:ext cx="438539" cy="51309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Arrow: Down 37">
            <a:extLst>
              <a:ext uri="{FF2B5EF4-FFF2-40B4-BE49-F238E27FC236}">
                <a16:creationId xmlns:a16="http://schemas.microsoft.com/office/drawing/2014/main" id="{0F1C50CE-F15C-B2D4-B48F-F7AEE045E143}"/>
              </a:ext>
            </a:extLst>
          </p:cNvPr>
          <p:cNvSpPr/>
          <p:nvPr/>
        </p:nvSpPr>
        <p:spPr>
          <a:xfrm>
            <a:off x="1323391" y="4046733"/>
            <a:ext cx="438539" cy="51309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Arrow: Down 39">
            <a:extLst>
              <a:ext uri="{FF2B5EF4-FFF2-40B4-BE49-F238E27FC236}">
                <a16:creationId xmlns:a16="http://schemas.microsoft.com/office/drawing/2014/main" id="{B72BDA55-67EA-A41D-44DA-BC69E83321B8}"/>
              </a:ext>
            </a:extLst>
          </p:cNvPr>
          <p:cNvSpPr/>
          <p:nvPr/>
        </p:nvSpPr>
        <p:spPr>
          <a:xfrm>
            <a:off x="3968682" y="2487449"/>
            <a:ext cx="438539" cy="51309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Arrow: Down 43">
            <a:extLst>
              <a:ext uri="{FF2B5EF4-FFF2-40B4-BE49-F238E27FC236}">
                <a16:creationId xmlns:a16="http://schemas.microsoft.com/office/drawing/2014/main" id="{DB731750-8D48-F341-D7FF-3CF56FB55656}"/>
              </a:ext>
            </a:extLst>
          </p:cNvPr>
          <p:cNvSpPr/>
          <p:nvPr/>
        </p:nvSpPr>
        <p:spPr>
          <a:xfrm>
            <a:off x="3968682" y="4030497"/>
            <a:ext cx="438539" cy="51309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Arrow: Down 45">
            <a:extLst>
              <a:ext uri="{FF2B5EF4-FFF2-40B4-BE49-F238E27FC236}">
                <a16:creationId xmlns:a16="http://schemas.microsoft.com/office/drawing/2014/main" id="{73D59C04-42E4-E95A-169D-F4DA5A57CB1B}"/>
              </a:ext>
            </a:extLst>
          </p:cNvPr>
          <p:cNvSpPr/>
          <p:nvPr/>
        </p:nvSpPr>
        <p:spPr>
          <a:xfrm>
            <a:off x="6504807" y="2515393"/>
            <a:ext cx="438539" cy="51309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Arrow: Down 47">
            <a:extLst>
              <a:ext uri="{FF2B5EF4-FFF2-40B4-BE49-F238E27FC236}">
                <a16:creationId xmlns:a16="http://schemas.microsoft.com/office/drawing/2014/main" id="{E8DBF6B3-3683-3221-5378-9DB11AE50760}"/>
              </a:ext>
            </a:extLst>
          </p:cNvPr>
          <p:cNvSpPr/>
          <p:nvPr/>
        </p:nvSpPr>
        <p:spPr>
          <a:xfrm>
            <a:off x="6504807" y="4046733"/>
            <a:ext cx="438539" cy="51309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Arrow: Down 49">
            <a:extLst>
              <a:ext uri="{FF2B5EF4-FFF2-40B4-BE49-F238E27FC236}">
                <a16:creationId xmlns:a16="http://schemas.microsoft.com/office/drawing/2014/main" id="{65714EA3-0AD9-85E7-E243-03DFFF0D4B00}"/>
              </a:ext>
            </a:extLst>
          </p:cNvPr>
          <p:cNvSpPr/>
          <p:nvPr/>
        </p:nvSpPr>
        <p:spPr>
          <a:xfrm rot="14059156">
            <a:off x="8366559" y="4056423"/>
            <a:ext cx="438539" cy="93935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4">
            <a:extLst>
              <a:ext uri="{FF2B5EF4-FFF2-40B4-BE49-F238E27FC236}">
                <a16:creationId xmlns:a16="http://schemas.microsoft.com/office/drawing/2014/main" id="{412B073F-F900-1CD8-E2B3-01E073D47123}"/>
              </a:ext>
            </a:extLst>
          </p:cNvPr>
          <p:cNvSpPr/>
          <p:nvPr/>
        </p:nvSpPr>
        <p:spPr>
          <a:xfrm>
            <a:off x="4312920" y="2971800"/>
            <a:ext cx="3566160" cy="914400"/>
          </a:xfrm>
          <a:prstGeom prst="roundRect">
            <a:avLst>
              <a:gd name="adj" fmla="val 8000"/>
            </a:avLst>
          </a:prstGeom>
          <a:solidFill>
            <a:srgbClr val="FFFFFF"/>
          </a:solidFill>
          <a:ln w="12700">
            <a:solidFill>
              <a:srgbClr val="5D7185"/>
            </a:solidFill>
            <a:prstDash val="dash"/>
          </a:ln>
        </p:spPr>
        <p:txBody>
          <a:bodyPr/>
          <a:lstStyle/>
          <a:p>
            <a:pPr algn="ctr"/>
            <a:r>
              <a:rPr lang="en-US" sz="2000" dirty="0">
                <a:solidFill>
                  <a:srgbClr val="5D7185"/>
                </a:solidFill>
                <a:latin typeface="Calibri" pitchFamily="34" charset="0"/>
                <a:ea typeface="Calibri" pitchFamily="34" charset="-122"/>
                <a:cs typeface="Calibri" pitchFamily="34" charset="-120"/>
              </a:rPr>
              <a:t>▦  </a:t>
            </a:r>
            <a:r>
              <a:rPr lang="en-US" i="1" dirty="0">
                <a:solidFill>
                  <a:srgbClr val="3A5068"/>
                </a:solidFill>
                <a:latin typeface="Calibri" pitchFamily="34" charset="0"/>
                <a:ea typeface="Calibri" pitchFamily="34" charset="-122"/>
                <a:cs typeface="Calibri" pitchFamily="34" charset="-120"/>
              </a:rPr>
              <a:t>INSERT GEOMETRY</a:t>
            </a:r>
            <a:endParaRPr lang="en-US" sz="2000" dirty="0"/>
          </a:p>
          <a:p>
            <a:pPr algn="ctr"/>
            <a:r>
              <a:rPr lang="en-US" i="1" dirty="0">
                <a:solidFill>
                  <a:srgbClr val="3A5068"/>
                </a:solidFill>
                <a:latin typeface="Calibri" pitchFamily="34" charset="0"/>
                <a:ea typeface="Calibri" pitchFamily="34" charset="-122"/>
                <a:cs typeface="Calibri" pitchFamily="34" charset="-120"/>
              </a:rPr>
              <a:t>SCREENSHOT</a:t>
            </a:r>
            <a:endParaRPr lang="en-US" sz="2000" dirty="0"/>
          </a:p>
          <a:p>
            <a:endParaRPr lang="en-IN" dirty="0"/>
          </a:p>
        </p:txBody>
      </p:sp>
      <p:pic>
        <p:nvPicPr>
          <p:cNvPr id="6" name="Picture 5">
            <a:extLst>
              <a:ext uri="{FF2B5EF4-FFF2-40B4-BE49-F238E27FC236}">
                <a16:creationId xmlns:a16="http://schemas.microsoft.com/office/drawing/2014/main" id="{45F7C03E-114C-4D99-4A28-ECDA6EDF238B}"/>
              </a:ext>
            </a:extLst>
          </p:cNvPr>
          <p:cNvPicPr>
            <a:picLocks noChangeAspect="1"/>
          </p:cNvPicPr>
          <p:nvPr/>
        </p:nvPicPr>
        <p:blipFill>
          <a:blip r:embed="rId2"/>
          <a:stretch>
            <a:fillRect/>
          </a:stretch>
        </p:blipFill>
        <p:spPr>
          <a:xfrm>
            <a:off x="2308797" y="1012891"/>
            <a:ext cx="8194491" cy="5443893"/>
          </a:xfrm>
          <a:prstGeom prst="rect">
            <a:avLst/>
          </a:prstGeom>
        </p:spPr>
      </p:pic>
      <p:sp>
        <p:nvSpPr>
          <p:cNvPr id="7" name="TextBox 6">
            <a:extLst>
              <a:ext uri="{FF2B5EF4-FFF2-40B4-BE49-F238E27FC236}">
                <a16:creationId xmlns:a16="http://schemas.microsoft.com/office/drawing/2014/main" id="{D355CC7B-7CB9-F0E1-D915-0E2AFD32AA45}"/>
              </a:ext>
            </a:extLst>
          </p:cNvPr>
          <p:cNvSpPr txBox="1"/>
          <p:nvPr/>
        </p:nvSpPr>
        <p:spPr>
          <a:xfrm>
            <a:off x="5486400" y="401216"/>
            <a:ext cx="2304029"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GEOMETRY</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9518213"/>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3F5F7"/>
        </a:solidFill>
        <a:effectLst/>
      </p:bgPr>
    </p:bg>
    <p:spTree>
      <p:nvGrpSpPr>
        <p:cNvPr id="1" name=""/>
        <p:cNvGrpSpPr/>
        <p:nvPr/>
      </p:nvGrpSpPr>
      <p:grpSpPr>
        <a:xfrm>
          <a:off x="0" y="0"/>
          <a:ext cx="0" cy="0"/>
          <a:chOff x="0" y="0"/>
          <a:chExt cx="0" cy="0"/>
        </a:xfrm>
      </p:grpSpPr>
      <p:sp>
        <p:nvSpPr>
          <p:cNvPr id="3" name="Text 1"/>
          <p:cNvSpPr/>
          <p:nvPr/>
        </p:nvSpPr>
        <p:spPr>
          <a:xfrm>
            <a:off x="548640" y="566928"/>
            <a:ext cx="10789920" cy="685800"/>
          </a:xfrm>
          <a:prstGeom prst="rect">
            <a:avLst/>
          </a:prstGeom>
          <a:noFill/>
          <a:ln/>
        </p:spPr>
        <p:txBody>
          <a:bodyPr wrap="square" lIns="0" tIns="0" rIns="0" bIns="0" rtlCol="0" anchor="ctr"/>
          <a:lstStyle/>
          <a:p>
            <a:pPr marL="0" indent="0" algn="ctr">
              <a:buNone/>
            </a:pPr>
            <a:r>
              <a:rPr lang="en-US" sz="3000" b="1" dirty="0">
                <a:solidFill>
                  <a:srgbClr val="16232E"/>
                </a:solidFill>
                <a:latin typeface="Times New Roman" panose="02020603050405020304" pitchFamily="18" charset="0"/>
                <a:ea typeface="Cambria" pitchFamily="34" charset="-122"/>
                <a:cs typeface="Times New Roman" panose="02020603050405020304" pitchFamily="18" charset="0"/>
              </a:rPr>
              <a:t>Meshing &amp; Boundary Conditions</a:t>
            </a:r>
            <a:endParaRPr lang="en-US" sz="3000" dirty="0">
              <a:latin typeface="Times New Roman" panose="02020603050405020304" pitchFamily="18" charset="0"/>
              <a:cs typeface="Times New Roman" panose="02020603050405020304" pitchFamily="18" charset="0"/>
            </a:endParaRPr>
          </a:p>
        </p:txBody>
      </p:sp>
      <p:sp>
        <p:nvSpPr>
          <p:cNvPr id="5" name="Shape 3"/>
          <p:cNvSpPr/>
          <p:nvPr/>
        </p:nvSpPr>
        <p:spPr>
          <a:xfrm>
            <a:off x="548640" y="1508760"/>
            <a:ext cx="5394960" cy="2286000"/>
          </a:xfrm>
          <a:prstGeom prst="roundRect">
            <a:avLst>
              <a:gd name="adj" fmla="val 1978"/>
            </a:avLst>
          </a:prstGeom>
          <a:solidFill>
            <a:srgbClr val="FFFFFF"/>
          </a:solidFill>
          <a:ln w="12700">
            <a:solidFill>
              <a:srgbClr val="C7D2DB"/>
            </a:solidFill>
            <a:prstDash val="solid"/>
          </a:ln>
          <a:effectLst>
            <a:outerShdw blurRad="101600" dist="25400" dir="5400000" algn="bl" rotWithShape="0">
              <a:srgbClr val="16232E">
                <a:alpha val="12000"/>
              </a:srgbClr>
            </a:outerShdw>
          </a:effectLst>
        </p:spPr>
      </p:sp>
      <p:sp>
        <p:nvSpPr>
          <p:cNvPr id="6" name="Text 4"/>
          <p:cNvSpPr/>
          <p:nvPr/>
        </p:nvSpPr>
        <p:spPr>
          <a:xfrm>
            <a:off x="822960" y="1691640"/>
            <a:ext cx="4846320" cy="274320"/>
          </a:xfrm>
          <a:prstGeom prst="rect">
            <a:avLst/>
          </a:prstGeom>
          <a:noFill/>
          <a:ln/>
        </p:spPr>
        <p:txBody>
          <a:bodyPr wrap="square" lIns="0" tIns="0" rIns="0" bIns="0" rtlCol="0" anchor="ctr"/>
          <a:lstStyle/>
          <a:p>
            <a:pPr marL="0" indent="0">
              <a:buNone/>
            </a:pPr>
            <a:r>
              <a:rPr lang="en-US" sz="1400" b="1" dirty="0">
                <a:solidFill>
                  <a:srgbClr val="3A5068"/>
                </a:solidFill>
                <a:latin typeface="Times New Roman" panose="02020603050405020304" pitchFamily="18" charset="0"/>
                <a:ea typeface="Calibri" pitchFamily="34" charset="-122"/>
                <a:cs typeface="Times New Roman" panose="02020603050405020304" pitchFamily="18" charset="0"/>
              </a:rPr>
              <a:t>A.  MESHING</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822960" y="2057400"/>
            <a:ext cx="4846320" cy="173736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16232E"/>
                </a:solidFill>
                <a:latin typeface="Times New Roman" panose="02020603050405020304" pitchFamily="18" charset="0"/>
                <a:ea typeface="Calibri" pitchFamily="34" charset="-122"/>
                <a:cs typeface="Times New Roman" panose="02020603050405020304" pitchFamily="18" charset="0"/>
              </a:rPr>
              <a:t>Geometry is divided into small finite elements</a:t>
            </a:r>
            <a:endParaRPr lang="en-US" sz="14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400" dirty="0">
                <a:solidFill>
                  <a:srgbClr val="16232E"/>
                </a:solidFill>
                <a:latin typeface="Times New Roman" panose="02020603050405020304" pitchFamily="18" charset="0"/>
                <a:ea typeface="Calibri" pitchFamily="34" charset="-122"/>
                <a:cs typeface="Times New Roman" panose="02020603050405020304" pitchFamily="18" charset="0"/>
              </a:rPr>
              <a:t>Finer mesh improves accuracy in high-temperature-gradient zones</a:t>
            </a:r>
            <a:endParaRPr lang="en-US" sz="14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400" dirty="0">
                <a:solidFill>
                  <a:srgbClr val="16232E"/>
                </a:solidFill>
                <a:latin typeface="Times New Roman" panose="02020603050405020304" pitchFamily="18" charset="0"/>
                <a:ea typeface="Calibri" pitchFamily="34" charset="-122"/>
                <a:cs typeface="Times New Roman" panose="02020603050405020304" pitchFamily="18" charset="0"/>
              </a:rPr>
              <a:t>Excessively fine mesh increases computational cost</a:t>
            </a:r>
            <a:endParaRPr lang="en-US" sz="14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400" dirty="0">
                <a:solidFill>
                  <a:srgbClr val="16232E"/>
                </a:solidFill>
                <a:latin typeface="Times New Roman" panose="02020603050405020304" pitchFamily="18" charset="0"/>
                <a:ea typeface="Calibri" pitchFamily="34" charset="-122"/>
                <a:cs typeface="Times New Roman" panose="02020603050405020304" pitchFamily="18" charset="0"/>
              </a:rPr>
              <a:t>Deposition / weld region generally needs careful mesh refinement</a:t>
            </a:r>
            <a:endParaRPr lang="en-US" sz="1400" dirty="0">
              <a:latin typeface="Times New Roman" panose="02020603050405020304" pitchFamily="18" charset="0"/>
              <a:cs typeface="Times New Roman" panose="02020603050405020304" pitchFamily="18" charset="0"/>
            </a:endParaRPr>
          </a:p>
        </p:txBody>
      </p:sp>
      <p:sp>
        <p:nvSpPr>
          <p:cNvPr id="8" name="Shape 6"/>
          <p:cNvSpPr/>
          <p:nvPr/>
        </p:nvSpPr>
        <p:spPr>
          <a:xfrm>
            <a:off x="548640" y="3962711"/>
            <a:ext cx="5120640" cy="2773058"/>
          </a:xfrm>
          <a:prstGeom prst="roundRect">
            <a:avLst>
              <a:gd name="adj" fmla="val 4571"/>
            </a:avLst>
          </a:prstGeom>
          <a:solidFill>
            <a:srgbClr val="FFFFFF"/>
          </a:solidFill>
          <a:ln w="12700">
            <a:solidFill>
              <a:srgbClr val="5D7185"/>
            </a:solidFill>
            <a:prstDash val="dash"/>
          </a:ln>
        </p:spPr>
      </p:sp>
      <p:sp>
        <p:nvSpPr>
          <p:cNvPr id="9" name="Text 7"/>
          <p:cNvSpPr/>
          <p:nvPr/>
        </p:nvSpPr>
        <p:spPr>
          <a:xfrm>
            <a:off x="1005840" y="4411980"/>
            <a:ext cx="4480560" cy="548640"/>
          </a:xfrm>
          <a:prstGeom prst="rect">
            <a:avLst/>
          </a:prstGeom>
          <a:noFill/>
          <a:ln/>
        </p:spPr>
        <p:txBody>
          <a:bodyPr wrap="square" lIns="0" tIns="0" rIns="0" bIns="0" rtlCol="0" anchor="ctr"/>
          <a:lstStyle/>
          <a:p>
            <a:pPr marL="0" indent="0" algn="ctr">
              <a:buNone/>
            </a:pPr>
            <a:r>
              <a:rPr lang="en-US" sz="1600" dirty="0">
                <a:solidFill>
                  <a:srgbClr val="5D7185"/>
                </a:solidFill>
                <a:latin typeface="Times New Roman" panose="02020603050405020304" pitchFamily="18" charset="0"/>
                <a:ea typeface="Calibri" pitchFamily="34" charset="-122"/>
                <a:cs typeface="Times New Roman" panose="02020603050405020304" pitchFamily="18" charset="0"/>
              </a:rPr>
              <a:t>▦  </a:t>
            </a:r>
            <a:r>
              <a:rPr lang="en-US" sz="1400" i="1" dirty="0">
                <a:solidFill>
                  <a:srgbClr val="3A5068"/>
                </a:solidFill>
                <a:latin typeface="Times New Roman" panose="02020603050405020304" pitchFamily="18" charset="0"/>
                <a:ea typeface="Calibri" pitchFamily="34" charset="-122"/>
                <a:cs typeface="Times New Roman" panose="02020603050405020304" pitchFamily="18" charset="0"/>
              </a:rPr>
              <a:t>INSERT MESH IMAGE</a:t>
            </a:r>
            <a:endParaRPr lang="en-US" sz="1600" dirty="0">
              <a:latin typeface="Times New Roman" panose="02020603050405020304" pitchFamily="18" charset="0"/>
              <a:cs typeface="Times New Roman" panose="02020603050405020304" pitchFamily="18" charset="0"/>
            </a:endParaRPr>
          </a:p>
          <a:p>
            <a:pPr marL="0" indent="0" algn="ctr">
              <a:buNone/>
            </a:pPr>
            <a:r>
              <a:rPr lang="en-US" sz="1400" i="1" dirty="0">
                <a:solidFill>
                  <a:srgbClr val="3A5068"/>
                </a:solidFill>
                <a:latin typeface="Times New Roman" panose="02020603050405020304" pitchFamily="18" charset="0"/>
                <a:ea typeface="Calibri" pitchFamily="34" charset="-122"/>
                <a:cs typeface="Times New Roman" panose="02020603050405020304" pitchFamily="18" charset="0"/>
              </a:rPr>
              <a:t>FROM SIMUFACT</a:t>
            </a:r>
            <a:endParaRPr lang="en-US" sz="1600" dirty="0">
              <a:latin typeface="Times New Roman" panose="02020603050405020304" pitchFamily="18" charset="0"/>
              <a:cs typeface="Times New Roman" panose="02020603050405020304" pitchFamily="18" charset="0"/>
            </a:endParaRPr>
          </a:p>
        </p:txBody>
      </p:sp>
      <p:sp>
        <p:nvSpPr>
          <p:cNvPr id="10" name="Shape 8"/>
          <p:cNvSpPr/>
          <p:nvPr/>
        </p:nvSpPr>
        <p:spPr>
          <a:xfrm>
            <a:off x="6263640" y="1508760"/>
            <a:ext cx="5349240" cy="4160520"/>
          </a:xfrm>
          <a:prstGeom prst="roundRect">
            <a:avLst>
              <a:gd name="adj" fmla="val 1978"/>
            </a:avLst>
          </a:prstGeom>
          <a:solidFill>
            <a:srgbClr val="16232E"/>
          </a:solidFill>
          <a:ln/>
        </p:spPr>
      </p:sp>
      <p:sp>
        <p:nvSpPr>
          <p:cNvPr id="11" name="Text 9"/>
          <p:cNvSpPr/>
          <p:nvPr/>
        </p:nvSpPr>
        <p:spPr>
          <a:xfrm>
            <a:off x="6537960" y="1691640"/>
            <a:ext cx="4846320" cy="274320"/>
          </a:xfrm>
          <a:prstGeom prst="rect">
            <a:avLst/>
          </a:prstGeom>
          <a:noFill/>
          <a:ln/>
        </p:spPr>
        <p:txBody>
          <a:bodyPr wrap="square" lIns="0" tIns="0" rIns="0" bIns="0" rtlCol="0" anchor="ctr"/>
          <a:lstStyle/>
          <a:p>
            <a:pPr marL="0" indent="0">
              <a:buNone/>
            </a:pPr>
            <a:r>
              <a:rPr lang="en-US" sz="1400" b="1" dirty="0">
                <a:solidFill>
                  <a:srgbClr val="F2A93B"/>
                </a:solidFill>
                <a:latin typeface="Times New Roman" panose="02020603050405020304" pitchFamily="18" charset="0"/>
                <a:ea typeface="Calibri" pitchFamily="34" charset="-122"/>
                <a:cs typeface="Times New Roman" panose="02020603050405020304" pitchFamily="18" charset="0"/>
              </a:rPr>
              <a:t>B.  BOUNDARY CONDITIONS</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6537960" y="2057400"/>
            <a:ext cx="4846320" cy="192024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Initial temperature</a:t>
            </a:r>
            <a:endParaRPr lang="en-US" sz="14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Ambient temperature</a:t>
            </a:r>
            <a:endParaRPr lang="en-US" sz="14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Convection</a:t>
            </a:r>
            <a:endParaRPr lang="en-US" sz="14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Radiation</a:t>
            </a:r>
            <a:endParaRPr lang="en-US" sz="14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Thermal contact</a:t>
            </a:r>
            <a:endParaRPr lang="en-US" sz="14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Mechanical constraints</a:t>
            </a:r>
            <a:endParaRPr lang="en-US" sz="14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400" dirty="0">
                <a:solidFill>
                  <a:srgbClr val="FFFFFF"/>
                </a:solidFill>
                <a:latin typeface="Times New Roman" panose="02020603050405020304" pitchFamily="18" charset="0"/>
                <a:ea typeface="Calibri" pitchFamily="34" charset="-122"/>
                <a:cs typeface="Times New Roman" panose="02020603050405020304" pitchFamily="18" charset="0"/>
              </a:rPr>
              <a:t>Clamping / restraints</a:t>
            </a:r>
            <a:endParaRPr lang="en-US" sz="1400" dirty="0">
              <a:latin typeface="Times New Roman" panose="02020603050405020304" pitchFamily="18" charset="0"/>
              <a:cs typeface="Times New Roman" panose="02020603050405020304" pitchFamily="18" charset="0"/>
            </a:endParaRPr>
          </a:p>
        </p:txBody>
      </p:sp>
      <p:sp>
        <p:nvSpPr>
          <p:cNvPr id="13" name="Text 11"/>
          <p:cNvSpPr/>
          <p:nvPr/>
        </p:nvSpPr>
        <p:spPr>
          <a:xfrm>
            <a:off x="6537960" y="4160520"/>
            <a:ext cx="4846320" cy="1325880"/>
          </a:xfrm>
          <a:prstGeom prst="rect">
            <a:avLst/>
          </a:prstGeom>
          <a:noFill/>
          <a:ln/>
        </p:spPr>
        <p:txBody>
          <a:bodyPr wrap="square" lIns="0" tIns="0" rIns="0" bIns="0" rtlCol="0" anchor="ctr"/>
          <a:lstStyle/>
          <a:p>
            <a:pPr marL="0" indent="0">
              <a:buNone/>
            </a:pPr>
            <a:endParaRPr lang="en-US" sz="14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17521A21-00B6-DE7C-C1C7-517B4CB91255}"/>
              </a:ext>
            </a:extLst>
          </p:cNvPr>
          <p:cNvPicPr>
            <a:picLocks noChangeAspect="1"/>
          </p:cNvPicPr>
          <p:nvPr/>
        </p:nvPicPr>
        <p:blipFill>
          <a:blip r:embed="rId3"/>
          <a:stretch>
            <a:fillRect/>
          </a:stretch>
        </p:blipFill>
        <p:spPr>
          <a:xfrm>
            <a:off x="1640818" y="4056081"/>
            <a:ext cx="3119163" cy="262126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8C308-471F-8C3A-AD1C-57499D2BED59}"/>
            </a:ext>
          </a:extLst>
        </p:cNvPr>
        <p:cNvGrpSpPr/>
        <p:nvPr/>
      </p:nvGrpSpPr>
      <p:grpSpPr>
        <a:xfrm>
          <a:off x="0" y="0"/>
          <a:ext cx="0" cy="0"/>
          <a:chOff x="0" y="0"/>
          <a:chExt cx="0" cy="0"/>
        </a:xfrm>
      </p:grpSpPr>
      <p:sp>
        <p:nvSpPr>
          <p:cNvPr id="3" name="Shape 34">
            <a:extLst>
              <a:ext uri="{FF2B5EF4-FFF2-40B4-BE49-F238E27FC236}">
                <a16:creationId xmlns:a16="http://schemas.microsoft.com/office/drawing/2014/main" id="{3884C459-B468-DE51-014A-5F9BAC9A8278}"/>
              </a:ext>
            </a:extLst>
          </p:cNvPr>
          <p:cNvSpPr/>
          <p:nvPr/>
        </p:nvSpPr>
        <p:spPr>
          <a:xfrm>
            <a:off x="4312920" y="2971800"/>
            <a:ext cx="3566160" cy="914400"/>
          </a:xfrm>
          <a:prstGeom prst="roundRect">
            <a:avLst>
              <a:gd name="adj" fmla="val 8000"/>
            </a:avLst>
          </a:prstGeom>
          <a:solidFill>
            <a:srgbClr val="FFFFFF"/>
          </a:solidFill>
          <a:ln w="12700">
            <a:solidFill>
              <a:srgbClr val="5D7185"/>
            </a:solidFill>
            <a:prstDash val="dash"/>
          </a:ln>
        </p:spPr>
        <p:txBody>
          <a:bodyPr/>
          <a:lstStyle/>
          <a:p>
            <a:pPr algn="ctr"/>
            <a:r>
              <a:rPr lang="en-US" sz="2800" dirty="0">
                <a:solidFill>
                  <a:srgbClr val="5D7185"/>
                </a:solidFill>
                <a:latin typeface="Calibri" pitchFamily="34" charset="0"/>
                <a:ea typeface="Calibri" pitchFamily="34" charset="-122"/>
                <a:cs typeface="Calibri" pitchFamily="34" charset="-120"/>
              </a:rPr>
              <a:t>▦  </a:t>
            </a:r>
            <a:r>
              <a:rPr lang="en-US" sz="2400" i="1" dirty="0">
                <a:solidFill>
                  <a:srgbClr val="3A5068"/>
                </a:solidFill>
                <a:latin typeface="Calibri" pitchFamily="34" charset="0"/>
                <a:ea typeface="Calibri" pitchFamily="34" charset="-122"/>
                <a:cs typeface="Calibri" pitchFamily="34" charset="-120"/>
              </a:rPr>
              <a:t>INSERT PROCESS/PATH</a:t>
            </a:r>
            <a:endParaRPr lang="en-US" sz="2800" dirty="0"/>
          </a:p>
          <a:p>
            <a:pPr algn="ctr"/>
            <a:r>
              <a:rPr lang="en-US" sz="2400" i="1" dirty="0">
                <a:solidFill>
                  <a:srgbClr val="3A5068"/>
                </a:solidFill>
                <a:latin typeface="Calibri" pitchFamily="34" charset="0"/>
                <a:ea typeface="Calibri" pitchFamily="34" charset="-122"/>
                <a:cs typeface="Calibri" pitchFamily="34" charset="-120"/>
              </a:rPr>
              <a:t>SCREENSHOT</a:t>
            </a:r>
            <a:endParaRPr lang="en-US" sz="2800" dirty="0"/>
          </a:p>
          <a:p>
            <a:endParaRPr lang="en-IN" dirty="0"/>
          </a:p>
        </p:txBody>
      </p:sp>
      <p:pic>
        <p:nvPicPr>
          <p:cNvPr id="4" name="Picture 3">
            <a:extLst>
              <a:ext uri="{FF2B5EF4-FFF2-40B4-BE49-F238E27FC236}">
                <a16:creationId xmlns:a16="http://schemas.microsoft.com/office/drawing/2014/main" id="{112291B6-4900-0B23-02A9-FC60CFF3991D}"/>
              </a:ext>
            </a:extLst>
          </p:cNvPr>
          <p:cNvPicPr>
            <a:picLocks noChangeAspect="1"/>
          </p:cNvPicPr>
          <p:nvPr/>
        </p:nvPicPr>
        <p:blipFill>
          <a:blip r:embed="rId2"/>
          <a:stretch>
            <a:fillRect/>
          </a:stretch>
        </p:blipFill>
        <p:spPr>
          <a:xfrm>
            <a:off x="2345892" y="1277466"/>
            <a:ext cx="7500216" cy="4974871"/>
          </a:xfrm>
          <a:prstGeom prst="rect">
            <a:avLst/>
          </a:prstGeom>
        </p:spPr>
      </p:pic>
      <p:sp>
        <p:nvSpPr>
          <p:cNvPr id="7" name="TextBox 6">
            <a:extLst>
              <a:ext uri="{FF2B5EF4-FFF2-40B4-BE49-F238E27FC236}">
                <a16:creationId xmlns:a16="http://schemas.microsoft.com/office/drawing/2014/main" id="{12744881-2FF2-10E0-983E-89901DEE3100}"/>
              </a:ext>
            </a:extLst>
          </p:cNvPr>
          <p:cNvSpPr txBox="1"/>
          <p:nvPr/>
        </p:nvSpPr>
        <p:spPr>
          <a:xfrm>
            <a:off x="3048778" y="494522"/>
            <a:ext cx="6097554" cy="523220"/>
          </a:xfrm>
          <a:prstGeom prst="rect">
            <a:avLst/>
          </a:prstGeom>
          <a:noFill/>
        </p:spPr>
        <p:txBody>
          <a:bodyPr wrap="square">
            <a:spAutoFit/>
          </a:bodyPr>
          <a:lstStyle/>
          <a:p>
            <a:pPr algn="ctr"/>
            <a:r>
              <a:rPr lang="en-US" sz="2800" b="1" dirty="0">
                <a:latin typeface="Times New Roman" panose="02020603050405020304" pitchFamily="18" charset="0"/>
                <a:cs typeface="Times New Roman" panose="02020603050405020304" pitchFamily="18" charset="0"/>
              </a:rPr>
              <a:t>MESHING</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1964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7"/>
        </a:solidFill>
        <a:effectLst/>
      </p:bgPr>
    </p:bg>
    <p:spTree>
      <p:nvGrpSpPr>
        <p:cNvPr id="1" name=""/>
        <p:cNvGrpSpPr/>
        <p:nvPr/>
      </p:nvGrpSpPr>
      <p:grpSpPr>
        <a:xfrm>
          <a:off x="0" y="0"/>
          <a:ext cx="0" cy="0"/>
          <a:chOff x="0" y="0"/>
          <a:chExt cx="0" cy="0"/>
        </a:xfrm>
      </p:grpSpPr>
      <p:sp>
        <p:nvSpPr>
          <p:cNvPr id="3" name="Text 1"/>
          <p:cNvSpPr/>
          <p:nvPr/>
        </p:nvSpPr>
        <p:spPr>
          <a:xfrm>
            <a:off x="548640" y="424179"/>
            <a:ext cx="10789920" cy="685800"/>
          </a:xfrm>
          <a:prstGeom prst="rect">
            <a:avLst/>
          </a:prstGeom>
          <a:noFill/>
          <a:ln/>
        </p:spPr>
        <p:txBody>
          <a:bodyPr wrap="square" lIns="0" tIns="0" rIns="0" bIns="0" rtlCol="0" anchor="ctr"/>
          <a:lstStyle/>
          <a:p>
            <a:pPr marL="0" indent="0" algn="ctr">
              <a:buNone/>
            </a:pPr>
            <a:r>
              <a:rPr lang="en-US" sz="3000" b="1" dirty="0">
                <a:solidFill>
                  <a:srgbClr val="16232E"/>
                </a:solidFill>
                <a:latin typeface="Times New Roman" panose="02020603050405020304" pitchFamily="18" charset="0"/>
                <a:ea typeface="Cambria" pitchFamily="34" charset="-122"/>
                <a:cs typeface="Times New Roman" panose="02020603050405020304" pitchFamily="18" charset="0"/>
              </a:rPr>
              <a:t>Thermal Simulation &amp; Temperature Distribution</a:t>
            </a:r>
            <a:endParaRPr lang="en-US" sz="3000" dirty="0">
              <a:latin typeface="Times New Roman" panose="02020603050405020304" pitchFamily="18" charset="0"/>
              <a:cs typeface="Times New Roman" panose="02020603050405020304" pitchFamily="18" charset="0"/>
            </a:endParaRPr>
          </a:p>
        </p:txBody>
      </p:sp>
      <p:sp>
        <p:nvSpPr>
          <p:cNvPr id="5" name="Text 3"/>
          <p:cNvSpPr/>
          <p:nvPr/>
        </p:nvSpPr>
        <p:spPr>
          <a:xfrm>
            <a:off x="548640" y="1508760"/>
            <a:ext cx="5212080" cy="4114800"/>
          </a:xfrm>
          <a:prstGeom prst="rect">
            <a:avLst/>
          </a:prstGeom>
          <a:noFill/>
          <a:ln/>
        </p:spPr>
        <p:txBody>
          <a:bodyPr wrap="square" lIns="0" tIns="0" rIns="0" bIns="0" rtlCol="0" anchor="t"/>
          <a:lstStyle/>
          <a:p>
            <a:pPr marL="228600" indent="-228600">
              <a:spcAft>
                <a:spcPts val="1000"/>
              </a:spcAft>
              <a:buSzPct val="100000"/>
              <a:buChar char="▪"/>
            </a:pPr>
            <a:r>
              <a:rPr lang="en-US" dirty="0">
                <a:solidFill>
                  <a:srgbClr val="16232E"/>
                </a:solidFill>
                <a:latin typeface="Times New Roman" panose="02020603050405020304" pitchFamily="18" charset="0"/>
                <a:ea typeface="Calibri" pitchFamily="34" charset="-122"/>
                <a:cs typeface="Times New Roman" panose="02020603050405020304" pitchFamily="18" charset="0"/>
              </a:rPr>
              <a:t>Heat source starts at the beginning of the path</a:t>
            </a:r>
            <a:endParaRPr lang="en-US"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dirty="0">
                <a:solidFill>
                  <a:srgbClr val="16232E"/>
                </a:solidFill>
                <a:latin typeface="Times New Roman" panose="02020603050405020304" pitchFamily="18" charset="0"/>
                <a:ea typeface="Calibri" pitchFamily="34" charset="-122"/>
                <a:cs typeface="Times New Roman" panose="02020603050405020304" pitchFamily="18" charset="0"/>
              </a:rPr>
              <a:t>Material temperature rises</a:t>
            </a:r>
            <a:endParaRPr lang="en-US"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dirty="0">
                <a:solidFill>
                  <a:srgbClr val="16232E"/>
                </a:solidFill>
                <a:latin typeface="Times New Roman" panose="02020603050405020304" pitchFamily="18" charset="0"/>
                <a:ea typeface="Calibri" pitchFamily="34" charset="-122"/>
                <a:cs typeface="Times New Roman" panose="02020603050405020304" pitchFamily="18" charset="0"/>
              </a:rPr>
              <a:t>A high-temperature / molten region develops</a:t>
            </a:r>
            <a:endParaRPr lang="en-US"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dirty="0">
                <a:solidFill>
                  <a:srgbClr val="16232E"/>
                </a:solidFill>
                <a:latin typeface="Times New Roman" panose="02020603050405020304" pitchFamily="18" charset="0"/>
                <a:ea typeface="Calibri" pitchFamily="34" charset="-122"/>
                <a:cs typeface="Times New Roman" panose="02020603050405020304" pitchFamily="18" charset="0"/>
              </a:rPr>
              <a:t>Heat conducts into surrounding material</a:t>
            </a:r>
            <a:endParaRPr lang="en-US"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dirty="0">
                <a:solidFill>
                  <a:srgbClr val="16232E"/>
                </a:solidFill>
                <a:latin typeface="Times New Roman" panose="02020603050405020304" pitchFamily="18" charset="0"/>
                <a:ea typeface="Calibri" pitchFamily="34" charset="-122"/>
                <a:cs typeface="Times New Roman" panose="02020603050405020304" pitchFamily="18" charset="0"/>
              </a:rPr>
              <a:t>Heat source moves forward</a:t>
            </a:r>
            <a:endParaRPr lang="en-US"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dirty="0">
                <a:solidFill>
                  <a:srgbClr val="16232E"/>
                </a:solidFill>
                <a:latin typeface="Times New Roman" panose="02020603050405020304" pitchFamily="18" charset="0"/>
                <a:ea typeface="Calibri" pitchFamily="34" charset="-122"/>
                <a:cs typeface="Times New Roman" panose="02020603050405020304" pitchFamily="18" charset="0"/>
              </a:rPr>
              <a:t>Previously heated material starts cooling</a:t>
            </a:r>
            <a:endParaRPr lang="en-US"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dirty="0">
                <a:solidFill>
                  <a:srgbClr val="16232E"/>
                </a:solidFill>
                <a:latin typeface="Times New Roman" panose="02020603050405020304" pitchFamily="18" charset="0"/>
                <a:ea typeface="Calibri" pitchFamily="34" charset="-122"/>
                <a:cs typeface="Times New Roman" panose="02020603050405020304" pitchFamily="18" charset="0"/>
              </a:rPr>
              <a:t>Subsequent layers can reheat previous layers</a:t>
            </a:r>
            <a:endParaRPr lang="en-US" dirty="0">
              <a:latin typeface="Times New Roman" panose="02020603050405020304" pitchFamily="18" charset="0"/>
              <a:cs typeface="Times New Roman" panose="02020603050405020304" pitchFamily="18" charset="0"/>
            </a:endParaRPr>
          </a:p>
        </p:txBody>
      </p:sp>
      <p:sp>
        <p:nvSpPr>
          <p:cNvPr id="6" name="Shape 4"/>
          <p:cNvSpPr/>
          <p:nvPr/>
        </p:nvSpPr>
        <p:spPr>
          <a:xfrm>
            <a:off x="5598367" y="1508759"/>
            <a:ext cx="6014513" cy="2624701"/>
          </a:xfrm>
          <a:prstGeom prst="roundRect">
            <a:avLst>
              <a:gd name="adj" fmla="val 3404"/>
            </a:avLst>
          </a:prstGeom>
          <a:solidFill>
            <a:srgbClr val="FFFFFF"/>
          </a:solidFill>
          <a:ln w="12700">
            <a:solidFill>
              <a:srgbClr val="5D7185"/>
            </a:solidFill>
            <a:prstDash val="dash"/>
          </a:ln>
        </p:spPr>
      </p:sp>
      <p:sp>
        <p:nvSpPr>
          <p:cNvPr id="7" name="Text 5"/>
          <p:cNvSpPr/>
          <p:nvPr/>
        </p:nvSpPr>
        <p:spPr>
          <a:xfrm>
            <a:off x="6217920" y="2308860"/>
            <a:ext cx="5212080" cy="548640"/>
          </a:xfrm>
          <a:prstGeom prst="rect">
            <a:avLst/>
          </a:prstGeom>
          <a:noFill/>
          <a:ln/>
        </p:spPr>
        <p:txBody>
          <a:bodyPr wrap="square" lIns="0" tIns="0" rIns="0" bIns="0" rtlCol="0" anchor="ctr"/>
          <a:lstStyle/>
          <a:p>
            <a:pPr marL="0" indent="0" algn="ctr">
              <a:buNone/>
            </a:pPr>
            <a:r>
              <a:rPr lang="en-US" sz="1400" dirty="0">
                <a:solidFill>
                  <a:srgbClr val="5D7185"/>
                </a:solidFill>
                <a:latin typeface="Times New Roman" panose="02020603050405020304" pitchFamily="18" charset="0"/>
                <a:ea typeface="Calibri" pitchFamily="34" charset="-122"/>
                <a:cs typeface="Times New Roman" panose="02020603050405020304" pitchFamily="18" charset="0"/>
              </a:rPr>
              <a:t>▦  </a:t>
            </a:r>
            <a:r>
              <a:rPr lang="en-US" sz="1200" i="1" dirty="0">
                <a:solidFill>
                  <a:srgbClr val="3A5068"/>
                </a:solidFill>
                <a:latin typeface="Times New Roman" panose="02020603050405020304" pitchFamily="18" charset="0"/>
                <a:ea typeface="Calibri" pitchFamily="34" charset="-122"/>
                <a:cs typeface="Times New Roman" panose="02020603050405020304" pitchFamily="18" charset="0"/>
              </a:rPr>
              <a:t>INSERT ACTUAL SIMUFACT</a:t>
            </a:r>
            <a:endParaRPr lang="en-US" sz="1400" dirty="0">
              <a:latin typeface="Times New Roman" panose="02020603050405020304" pitchFamily="18" charset="0"/>
              <a:cs typeface="Times New Roman" panose="02020603050405020304" pitchFamily="18" charset="0"/>
            </a:endParaRPr>
          </a:p>
          <a:p>
            <a:pPr marL="0" indent="0" algn="ctr">
              <a:buNone/>
            </a:pPr>
            <a:r>
              <a:rPr lang="en-US" sz="1200" i="1" dirty="0">
                <a:solidFill>
                  <a:srgbClr val="3A5068"/>
                </a:solidFill>
                <a:latin typeface="Times New Roman" panose="02020603050405020304" pitchFamily="18" charset="0"/>
                <a:ea typeface="Calibri" pitchFamily="34" charset="-122"/>
                <a:cs typeface="Times New Roman" panose="02020603050405020304" pitchFamily="18" charset="0"/>
              </a:rPr>
              <a:t>TEMPERATURE CONTOUR</a:t>
            </a:r>
            <a:endParaRPr lang="en-US" sz="1400" dirty="0">
              <a:latin typeface="Times New Roman" panose="02020603050405020304" pitchFamily="18" charset="0"/>
              <a:cs typeface="Times New Roman" panose="02020603050405020304" pitchFamily="18" charset="0"/>
            </a:endParaRPr>
          </a:p>
        </p:txBody>
      </p:sp>
      <p:sp>
        <p:nvSpPr>
          <p:cNvPr id="8" name="Shape 6"/>
          <p:cNvSpPr/>
          <p:nvPr/>
        </p:nvSpPr>
        <p:spPr>
          <a:xfrm>
            <a:off x="548640" y="5372100"/>
            <a:ext cx="4183223" cy="594360"/>
          </a:xfrm>
          <a:prstGeom prst="roundRect">
            <a:avLst>
              <a:gd name="adj" fmla="val 12308"/>
            </a:avLst>
          </a:prstGeom>
          <a:solidFill>
            <a:srgbClr val="16232E"/>
          </a:solidFill>
          <a:ln/>
        </p:spPr>
      </p:sp>
      <p:sp>
        <p:nvSpPr>
          <p:cNvPr id="9" name="Text 7"/>
          <p:cNvSpPr/>
          <p:nvPr/>
        </p:nvSpPr>
        <p:spPr>
          <a:xfrm>
            <a:off x="777240" y="5349240"/>
            <a:ext cx="5120640" cy="594360"/>
          </a:xfrm>
          <a:prstGeom prst="rect">
            <a:avLst/>
          </a:prstGeom>
          <a:noFill/>
          <a:ln/>
        </p:spPr>
        <p:txBody>
          <a:bodyPr wrap="square" lIns="0" tIns="0" rIns="0" bIns="0" rtlCol="0" anchor="ctr"/>
          <a:lstStyle/>
          <a:p>
            <a:pPr marL="0" indent="0">
              <a:buNone/>
            </a:pPr>
            <a:r>
              <a:rPr lang="en-US" dirty="0">
                <a:solidFill>
                  <a:srgbClr val="C7D2DB"/>
                </a:solidFill>
                <a:latin typeface="Times New Roman" panose="02020603050405020304" pitchFamily="18" charset="0"/>
                <a:ea typeface="Calibri" pitchFamily="34" charset="-122"/>
                <a:cs typeface="Times New Roman" panose="02020603050405020304" pitchFamily="18" charset="0"/>
              </a:rPr>
              <a:t>Maximum Temperature =  </a:t>
            </a:r>
            <a:r>
              <a:rPr lang="en-US" b="1" dirty="0">
                <a:solidFill>
                  <a:srgbClr val="F2A93B"/>
                </a:solidFill>
                <a:latin typeface="Times New Roman" panose="02020603050405020304" pitchFamily="18" charset="0"/>
                <a:ea typeface="Calibri" pitchFamily="34" charset="-122"/>
                <a:cs typeface="Times New Roman" panose="02020603050405020304" pitchFamily="18" charset="0"/>
              </a:rPr>
              <a:t>1336.11 °C</a:t>
            </a:r>
            <a:endParaRPr lang="en-US" dirty="0">
              <a:latin typeface="Times New Roman" panose="02020603050405020304" pitchFamily="18" charset="0"/>
              <a:cs typeface="Times New Roman" panose="02020603050405020304" pitchFamily="18" charset="0"/>
            </a:endParaRPr>
          </a:p>
        </p:txBody>
      </p:sp>
      <p:sp>
        <p:nvSpPr>
          <p:cNvPr id="11" name="Text 9"/>
          <p:cNvSpPr/>
          <p:nvPr/>
        </p:nvSpPr>
        <p:spPr>
          <a:xfrm>
            <a:off x="6217920" y="4823460"/>
            <a:ext cx="5212080" cy="548640"/>
          </a:xfrm>
          <a:prstGeom prst="rect">
            <a:avLst/>
          </a:prstGeom>
          <a:noFill/>
          <a:ln/>
        </p:spPr>
        <p:txBody>
          <a:bodyPr wrap="square" lIns="0" tIns="0" rIns="0" bIns="0" rtlCol="0" anchor="ctr"/>
          <a:lstStyle/>
          <a:p>
            <a:pPr marL="0" indent="0" algn="ctr">
              <a:buNone/>
            </a:pPr>
            <a:r>
              <a:rPr lang="en-US" sz="1400" dirty="0">
                <a:solidFill>
                  <a:srgbClr val="5D7185"/>
                </a:solidFill>
                <a:latin typeface="Times New Roman" panose="02020603050405020304" pitchFamily="18" charset="0"/>
                <a:ea typeface="Calibri" pitchFamily="34" charset="-122"/>
                <a:cs typeface="Times New Roman" panose="02020603050405020304" pitchFamily="18" charset="0"/>
              </a:rPr>
              <a:t>▦  </a:t>
            </a:r>
            <a:r>
              <a:rPr lang="en-US" sz="1200" i="1" dirty="0">
                <a:solidFill>
                  <a:srgbClr val="3A5068"/>
                </a:solidFill>
                <a:latin typeface="Times New Roman" panose="02020603050405020304" pitchFamily="18" charset="0"/>
                <a:ea typeface="Calibri" pitchFamily="34" charset="-122"/>
                <a:cs typeface="Times New Roman" panose="02020603050405020304" pitchFamily="18" charset="0"/>
              </a:rPr>
              <a:t>INSERT ACTUAL TEMPERATURE</a:t>
            </a:r>
            <a:endParaRPr lang="en-US" sz="1400" dirty="0">
              <a:latin typeface="Times New Roman" panose="02020603050405020304" pitchFamily="18" charset="0"/>
              <a:cs typeface="Times New Roman" panose="02020603050405020304" pitchFamily="18" charset="0"/>
            </a:endParaRPr>
          </a:p>
          <a:p>
            <a:pPr marL="0" indent="0" algn="ctr">
              <a:buNone/>
            </a:pPr>
            <a:r>
              <a:rPr lang="en-US" sz="1200" i="1" dirty="0">
                <a:solidFill>
                  <a:srgbClr val="3A5068"/>
                </a:solidFill>
                <a:latin typeface="Times New Roman" panose="02020603050405020304" pitchFamily="18" charset="0"/>
                <a:ea typeface="Calibri" pitchFamily="34" charset="-122"/>
                <a:cs typeface="Times New Roman" panose="02020603050405020304" pitchFamily="18" charset="0"/>
              </a:rPr>
              <a:t>vs TIME GRAPH</a:t>
            </a:r>
            <a:endParaRPr lang="en-US" sz="1400" dirty="0">
              <a:latin typeface="Times New Roman" panose="02020603050405020304" pitchFamily="18" charset="0"/>
              <a:cs typeface="Times New Roman" panose="02020603050405020304" pitchFamily="18" charset="0"/>
            </a:endParaRPr>
          </a:p>
        </p:txBody>
      </p:sp>
      <p:pic>
        <p:nvPicPr>
          <p:cNvPr id="18" name="SquareTubeOutline - Temperature(1)">
            <a:hlinkClick r:id="" action="ppaction://media"/>
            <a:extLst>
              <a:ext uri="{FF2B5EF4-FFF2-40B4-BE49-F238E27FC236}">
                <a16:creationId xmlns:a16="http://schemas.microsoft.com/office/drawing/2014/main" id="{FE34C683-ABAF-E583-1F9F-8A0F8FF3CC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080000" y="1284360"/>
            <a:ext cx="7112000" cy="44865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90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8"/>
                </p:tgtEl>
              </p:cMediaNode>
            </p:video>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8"/>
                                        </p:tgtEl>
                                      </p:cBhvr>
                                    </p:cmd>
                                  </p:childTnLst>
                                </p:cTn>
                              </p:par>
                            </p:childTnLst>
                          </p:cTn>
                        </p:par>
                      </p:childTnLst>
                    </p:cTn>
                  </p:par>
                </p:childTnLst>
              </p:cTn>
              <p:nextCondLst>
                <p:cond evt="onClick" delay="0">
                  <p:tgtEl>
                    <p:spTgt spid="18"/>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28">
            <a:extLst>
              <a:ext uri="{FF2B5EF4-FFF2-40B4-BE49-F238E27FC236}">
                <a16:creationId xmlns:a16="http://schemas.microsoft.com/office/drawing/2014/main" id="{968E1F22-AC56-2B6F-B59E-4D14136CBA85}"/>
              </a:ext>
            </a:extLst>
          </p:cNvPr>
          <p:cNvSpPr/>
          <p:nvPr/>
        </p:nvSpPr>
        <p:spPr>
          <a:xfrm>
            <a:off x="10353040" y="2059531"/>
            <a:ext cx="1584960" cy="2738938"/>
          </a:xfrm>
          <a:prstGeom prst="rect">
            <a:avLst/>
          </a:prstGeom>
          <a:noFill/>
          <a:ln/>
        </p:spPr>
        <p:txBody>
          <a:bodyPr wrap="square" lIns="0" tIns="0" rIns="0" bIns="0" rtlCol="0" anchor="ctr"/>
          <a:lstStyle/>
          <a:p>
            <a:pPr marL="0" indent="0">
              <a:buNone/>
            </a:pPr>
            <a:r>
              <a:rPr lang="en-US" sz="2000" dirty="0">
                <a:solidFill>
                  <a:srgbClr val="5D6E7C"/>
                </a:solidFill>
                <a:latin typeface="Calibri" pitchFamily="34" charset="0"/>
                <a:ea typeface="Calibri" pitchFamily="34" charset="-122"/>
                <a:cs typeface="Calibri" pitchFamily="34" charset="-120"/>
              </a:rPr>
              <a:t>Max Equivalent Stress = </a:t>
            </a:r>
            <a:r>
              <a:rPr lang="en-US" sz="2000" b="1" dirty="0">
                <a:solidFill>
                  <a:srgbClr val="3A5068"/>
                </a:solidFill>
                <a:latin typeface="Calibri" pitchFamily="34" charset="0"/>
                <a:ea typeface="Calibri" pitchFamily="34" charset="-122"/>
                <a:cs typeface="Calibri" pitchFamily="34" charset="-120"/>
              </a:rPr>
              <a:t>1017.40 </a:t>
            </a:r>
            <a:r>
              <a:rPr lang="en-US" sz="2000" b="1" dirty="0" err="1">
                <a:solidFill>
                  <a:srgbClr val="3A5068"/>
                </a:solidFill>
                <a:latin typeface="Calibri" pitchFamily="34" charset="0"/>
                <a:ea typeface="Calibri" pitchFamily="34" charset="-122"/>
                <a:cs typeface="Calibri" pitchFamily="34" charset="-120"/>
              </a:rPr>
              <a:t>Mpa</a:t>
            </a:r>
            <a:endParaRPr lang="en-US" sz="2000" dirty="0"/>
          </a:p>
        </p:txBody>
      </p:sp>
      <p:sp>
        <p:nvSpPr>
          <p:cNvPr id="6" name="TextBox 5">
            <a:extLst>
              <a:ext uri="{FF2B5EF4-FFF2-40B4-BE49-F238E27FC236}">
                <a16:creationId xmlns:a16="http://schemas.microsoft.com/office/drawing/2014/main" id="{444A1CA6-7B99-EF19-7FD2-74DAD8F58C6A}"/>
              </a:ext>
            </a:extLst>
          </p:cNvPr>
          <p:cNvSpPr txBox="1"/>
          <p:nvPr/>
        </p:nvSpPr>
        <p:spPr>
          <a:xfrm>
            <a:off x="3898159" y="335280"/>
            <a:ext cx="3972691" cy="523220"/>
          </a:xfrm>
          <a:prstGeom prst="rect">
            <a:avLst/>
          </a:prstGeom>
          <a:noFill/>
        </p:spPr>
        <p:txBody>
          <a:bodyPr wrap="none" rtlCol="0">
            <a:spAutoFit/>
          </a:bodyPr>
          <a:lstStyle/>
          <a:p>
            <a:r>
              <a:rPr lang="en-US" sz="2800" b="1" dirty="0">
                <a:latin typeface="Times New Roman" panose="02020603050405020304" pitchFamily="18" charset="0"/>
                <a:cs typeface="Times New Roman" panose="02020603050405020304" pitchFamily="18" charset="0"/>
              </a:rPr>
              <a:t>EQUIVALENT STRESS</a:t>
            </a:r>
            <a:endParaRPr lang="en-IN" sz="2800" b="1" dirty="0">
              <a:latin typeface="Times New Roman" panose="02020603050405020304" pitchFamily="18" charset="0"/>
              <a:cs typeface="Times New Roman" panose="02020603050405020304" pitchFamily="18" charset="0"/>
            </a:endParaRPr>
          </a:p>
        </p:txBody>
      </p:sp>
      <p:pic>
        <p:nvPicPr>
          <p:cNvPr id="8" name="SquareTubeOutline - Equivalent stress(2)">
            <a:hlinkClick r:id="" action="ppaction://media"/>
            <a:extLst>
              <a:ext uri="{FF2B5EF4-FFF2-40B4-BE49-F238E27FC236}">
                <a16:creationId xmlns:a16="http://schemas.microsoft.com/office/drawing/2014/main" id="{FB3C99AD-EF39-E539-1618-60052BA1EFE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38480" y="978755"/>
            <a:ext cx="9440506" cy="5310285"/>
          </a:xfrm>
          <a:prstGeom prst="rect">
            <a:avLst/>
          </a:prstGeom>
        </p:spPr>
      </p:pic>
    </p:spTree>
    <p:extLst>
      <p:ext uri="{BB962C8B-B14F-4D97-AF65-F5344CB8AC3E}">
        <p14:creationId xmlns:p14="http://schemas.microsoft.com/office/powerpoint/2010/main" val="450461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0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7"/>
        </a:solidFill>
        <a:effectLst/>
      </p:bgPr>
    </p:bg>
    <p:spTree>
      <p:nvGrpSpPr>
        <p:cNvPr id="1" name=""/>
        <p:cNvGrpSpPr/>
        <p:nvPr/>
      </p:nvGrpSpPr>
      <p:grpSpPr>
        <a:xfrm>
          <a:off x="0" y="0"/>
          <a:ext cx="0" cy="0"/>
          <a:chOff x="0" y="0"/>
          <a:chExt cx="0" cy="0"/>
        </a:xfrm>
      </p:grpSpPr>
      <p:sp>
        <p:nvSpPr>
          <p:cNvPr id="3" name="Text 1"/>
          <p:cNvSpPr/>
          <p:nvPr/>
        </p:nvSpPr>
        <p:spPr>
          <a:xfrm>
            <a:off x="548640" y="566928"/>
            <a:ext cx="10789920" cy="685800"/>
          </a:xfrm>
          <a:prstGeom prst="rect">
            <a:avLst/>
          </a:prstGeom>
          <a:noFill/>
          <a:ln/>
        </p:spPr>
        <p:txBody>
          <a:bodyPr wrap="square" lIns="0" tIns="0" rIns="0" bIns="0" rtlCol="0" anchor="ctr"/>
          <a:lstStyle/>
          <a:p>
            <a:pPr marL="0" indent="0" algn="ctr">
              <a:buNone/>
            </a:pPr>
            <a:r>
              <a:rPr lang="en-US" sz="3600" b="1" dirty="0">
                <a:solidFill>
                  <a:srgbClr val="16232E"/>
                </a:solidFill>
                <a:latin typeface="Times New Roman" panose="02020603050405020304" pitchFamily="18" charset="0"/>
                <a:ea typeface="Cambria" pitchFamily="34" charset="-122"/>
                <a:cs typeface="Times New Roman" panose="02020603050405020304" pitchFamily="18" charset="0"/>
              </a:rPr>
              <a:t>Results &amp; Discussion</a:t>
            </a:r>
            <a:endParaRPr lang="en-US" sz="3600" dirty="0">
              <a:latin typeface="Times New Roman" panose="02020603050405020304" pitchFamily="18" charset="0"/>
              <a:cs typeface="Times New Roman" panose="02020603050405020304" pitchFamily="18" charset="0"/>
            </a:endParaRPr>
          </a:p>
        </p:txBody>
      </p:sp>
      <p:graphicFrame>
        <p:nvGraphicFramePr>
          <p:cNvPr id="14" name="Table 0"/>
          <p:cNvGraphicFramePr>
            <a:graphicFrameLocks noGrp="1"/>
          </p:cNvGraphicFramePr>
          <p:nvPr>
            <p:extLst>
              <p:ext uri="{D42A27DB-BD31-4B8C-83A1-F6EECF244321}">
                <p14:modId xmlns:p14="http://schemas.microsoft.com/office/powerpoint/2010/main" val="3054753750"/>
              </p:ext>
            </p:extLst>
          </p:nvPr>
        </p:nvGraphicFramePr>
        <p:xfrm>
          <a:off x="484632" y="1832322"/>
          <a:ext cx="11064240" cy="1097280"/>
        </p:xfrm>
        <a:graphic>
          <a:graphicData uri="http://schemas.openxmlformats.org/drawingml/2006/table">
            <a:tbl>
              <a:tblPr/>
              <a:tblGrid>
                <a:gridCol w="46634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292608">
                <a:tc>
                  <a:txBody>
                    <a:bodyPr/>
                    <a:lstStyle/>
                    <a:p>
                      <a:pPr marL="0" indent="0">
                        <a:buNone/>
                      </a:pP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Simulation Output</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solidFill>
                      <a:srgbClr val="3A5068"/>
                    </a:solidFill>
                  </a:tcPr>
                </a:tc>
                <a:tc>
                  <a:txBody>
                    <a:bodyPr/>
                    <a:lstStyle/>
                    <a:p>
                      <a:pPr marL="0" indent="0" algn="r">
                        <a:buNone/>
                      </a:pP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Actual Result</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solidFill>
                      <a:srgbClr val="3A5068"/>
                    </a:solidFill>
                  </a:tcPr>
                </a:tc>
                <a:tc>
                  <a:txBody>
                    <a:bodyPr/>
                    <a:lstStyle/>
                    <a:p>
                      <a:pPr marL="0" indent="0">
                        <a:buNone/>
                      </a:pPr>
                      <a:r>
                        <a:rPr lang="en-US" sz="1800" b="1" dirty="0">
                          <a:solidFill>
                            <a:srgbClr val="FFFFFF"/>
                          </a:solidFill>
                          <a:latin typeface="Times New Roman" panose="02020603050405020304" pitchFamily="18" charset="0"/>
                          <a:ea typeface="Calibri" pitchFamily="34" charset="-122"/>
                          <a:cs typeface="Times New Roman" panose="02020603050405020304" pitchFamily="18" charset="0"/>
                        </a:rPr>
                        <a:t>Interpretation</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solidFill>
                      <a:srgbClr val="3A5068"/>
                    </a:solidFill>
                  </a:tcPr>
                </a:tc>
                <a:extLst>
                  <a:ext uri="{0D108BD9-81ED-4DB2-BD59-A6C34878D82A}">
                    <a16:rowId xmlns:a16="http://schemas.microsoft.com/office/drawing/2014/main" val="10000"/>
                  </a:ext>
                </a:extLst>
              </a:tr>
              <a:tr h="292608">
                <a:tc>
                  <a:txBody>
                    <a:bodyPr/>
                    <a:lstStyle/>
                    <a:p>
                      <a:pPr marL="0" indent="0" algn="l">
                        <a:buNone/>
                      </a:pPr>
                      <a:r>
                        <a:rPr lang="en-US" sz="1800" dirty="0">
                          <a:solidFill>
                            <a:srgbClr val="16232E"/>
                          </a:solidFill>
                          <a:latin typeface="Times New Roman" panose="02020603050405020304" pitchFamily="18" charset="0"/>
                          <a:ea typeface="Calibri" pitchFamily="34" charset="-122"/>
                          <a:cs typeface="Times New Roman" panose="02020603050405020304" pitchFamily="18" charset="0"/>
                        </a:rPr>
                        <a:t>Maximum Temperature</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lgn="r">
                        <a:buNone/>
                      </a:pPr>
                      <a:r>
                        <a:rPr lang="en-US" sz="1800" b="1" dirty="0">
                          <a:solidFill>
                            <a:srgbClr val="F2A93B"/>
                          </a:solidFill>
                          <a:latin typeface="Times New Roman" panose="02020603050405020304" pitchFamily="18" charset="0"/>
                          <a:ea typeface="Calibri" pitchFamily="34" charset="-122"/>
                          <a:cs typeface="Times New Roman" panose="02020603050405020304" pitchFamily="18" charset="0"/>
                        </a:rPr>
                        <a:t>1336.11 °C</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lgn="l">
                        <a:buNone/>
                      </a:pPr>
                      <a:r>
                        <a:rPr lang="en-US" sz="1800" dirty="0">
                          <a:solidFill>
                            <a:srgbClr val="16232E"/>
                          </a:solidFill>
                          <a:latin typeface="Times New Roman" panose="02020603050405020304" pitchFamily="18" charset="0"/>
                          <a:ea typeface="Calibri" pitchFamily="34" charset="-122"/>
                          <a:cs typeface="Times New Roman" panose="02020603050405020304" pitchFamily="18" charset="0"/>
                        </a:rPr>
                        <a:t>Peak thermal condition</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l">
                        <a:buNone/>
                      </a:pPr>
                      <a:r>
                        <a:rPr lang="en-US" sz="1800" dirty="0">
                          <a:solidFill>
                            <a:srgbClr val="16232E"/>
                          </a:solidFill>
                          <a:latin typeface="Times New Roman" panose="02020603050405020304" pitchFamily="18" charset="0"/>
                          <a:ea typeface="Calibri" pitchFamily="34" charset="-122"/>
                          <a:cs typeface="Times New Roman" panose="02020603050405020304" pitchFamily="18" charset="0"/>
                        </a:rPr>
                        <a:t>Maximum Equivalent Stress</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lgn="r">
                        <a:buNone/>
                      </a:pPr>
                      <a:r>
                        <a:rPr lang="en-US" sz="1800" b="1" dirty="0">
                          <a:solidFill>
                            <a:srgbClr val="3A5068"/>
                          </a:solidFill>
                          <a:latin typeface="Calibri" pitchFamily="34" charset="0"/>
                          <a:ea typeface="Calibri" pitchFamily="34" charset="-122"/>
                          <a:cs typeface="Calibri" pitchFamily="34" charset="-120"/>
                        </a:rPr>
                        <a:t>1017.40 </a:t>
                      </a:r>
                      <a:r>
                        <a:rPr lang="en-US" sz="1800" b="1" dirty="0" err="1">
                          <a:solidFill>
                            <a:srgbClr val="3A5068"/>
                          </a:solidFill>
                          <a:latin typeface="Calibri" pitchFamily="34" charset="0"/>
                          <a:ea typeface="Calibri" pitchFamily="34" charset="-122"/>
                          <a:cs typeface="Calibri" pitchFamily="34" charset="-120"/>
                        </a:rPr>
                        <a:t>Mpa</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tc>
                  <a:txBody>
                    <a:bodyPr/>
                    <a:lstStyle/>
                    <a:p>
                      <a:pPr marL="0" indent="0" algn="l">
                        <a:buNone/>
                      </a:pPr>
                      <a:r>
                        <a:rPr lang="en-US" sz="1800" dirty="0">
                          <a:solidFill>
                            <a:srgbClr val="16232E"/>
                          </a:solidFill>
                          <a:latin typeface="Times New Roman" panose="02020603050405020304" pitchFamily="18" charset="0"/>
                          <a:ea typeface="Calibri" pitchFamily="34" charset="-122"/>
                          <a:cs typeface="Times New Roman" panose="02020603050405020304" pitchFamily="18" charset="0"/>
                        </a:rPr>
                        <a:t>Welding-induced stress</a:t>
                      </a:r>
                      <a:endParaRPr lang="en-US" sz="1800" dirty="0">
                        <a:latin typeface="Times New Roman" panose="02020603050405020304" pitchFamily="18" charset="0"/>
                        <a:ea typeface="Calibri" charset="0"/>
                        <a:cs typeface="Times New Roman" panose="02020603050405020304" pitchFamily="18" charset="0"/>
                      </a:endParaRPr>
                    </a:p>
                  </a:txBody>
                  <a:tcPr>
                    <a:lnL w="12700" cap="flat" cmpd="sng" algn="ctr">
                      <a:solidFill>
                        <a:srgbClr val="C7D2DB"/>
                      </a:solidFill>
                      <a:prstDash val="solid"/>
                      <a:round/>
                      <a:headEnd type="none" w="med" len="med"/>
                      <a:tailEnd type="none" w="med" len="med"/>
                    </a:lnL>
                    <a:lnR w="12700" cap="flat" cmpd="sng" algn="ctr">
                      <a:solidFill>
                        <a:srgbClr val="C7D2DB"/>
                      </a:solidFill>
                      <a:prstDash val="solid"/>
                      <a:round/>
                      <a:headEnd type="none" w="med" len="med"/>
                      <a:tailEnd type="none" w="med" len="med"/>
                    </a:lnR>
                    <a:lnT w="12700" cap="flat" cmpd="sng" algn="ctr">
                      <a:solidFill>
                        <a:srgbClr val="C7D2DB"/>
                      </a:solidFill>
                      <a:prstDash val="solid"/>
                      <a:round/>
                      <a:headEnd type="none" w="med" len="med"/>
                      <a:tailEnd type="none" w="med" len="med"/>
                    </a:lnT>
                    <a:lnB w="12700" cap="flat" cmpd="sng" algn="ctr">
                      <a:solidFill>
                        <a:srgbClr val="C7D2D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 3"/>
          <p:cNvSpPr/>
          <p:nvPr/>
        </p:nvSpPr>
        <p:spPr>
          <a:xfrm>
            <a:off x="632617" y="3473926"/>
            <a:ext cx="4572000" cy="274320"/>
          </a:xfrm>
          <a:prstGeom prst="rect">
            <a:avLst/>
          </a:prstGeom>
          <a:noFill/>
          <a:ln/>
        </p:spPr>
        <p:txBody>
          <a:bodyPr wrap="square" lIns="0" tIns="0" rIns="0" bIns="0" rtlCol="0" anchor="ctr"/>
          <a:lstStyle/>
          <a:p>
            <a:pPr marL="0" indent="0">
              <a:buNone/>
            </a:pPr>
            <a:r>
              <a:rPr lang="en-US" sz="2000" b="1" kern="0" spc="100" dirty="0">
                <a:solidFill>
                  <a:srgbClr val="3A5068"/>
                </a:solidFill>
                <a:latin typeface="Times New Roman" panose="02020603050405020304" pitchFamily="18" charset="0"/>
                <a:ea typeface="Calibri" pitchFamily="34" charset="-122"/>
                <a:cs typeface="Times New Roman" panose="02020603050405020304" pitchFamily="18" charset="0"/>
              </a:rPr>
              <a:t>DISCUSSION</a:t>
            </a:r>
            <a:endParaRPr lang="en-US" sz="2000" dirty="0">
              <a:latin typeface="Times New Roman" panose="02020603050405020304" pitchFamily="18" charset="0"/>
              <a:cs typeface="Times New Roman" panose="02020603050405020304" pitchFamily="18" charset="0"/>
            </a:endParaRPr>
          </a:p>
        </p:txBody>
      </p:sp>
      <p:sp>
        <p:nvSpPr>
          <p:cNvPr id="7" name="Text 4"/>
          <p:cNvSpPr/>
          <p:nvPr/>
        </p:nvSpPr>
        <p:spPr>
          <a:xfrm>
            <a:off x="411480" y="3913632"/>
            <a:ext cx="10972800" cy="237744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16232E"/>
                </a:solidFill>
                <a:latin typeface="Times New Roman" panose="02020603050405020304" pitchFamily="18" charset="0"/>
                <a:ea typeface="Calibri" pitchFamily="34" charset="-122"/>
                <a:cs typeface="Times New Roman" panose="02020603050405020304" pitchFamily="18" charset="0"/>
              </a:rPr>
              <a:t>Highest temperature is expected near the moving heat source</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16232E"/>
                </a:solidFill>
                <a:latin typeface="Times New Roman" panose="02020603050405020304" pitchFamily="18" charset="0"/>
                <a:ea typeface="Calibri" pitchFamily="34" charset="-122"/>
                <a:cs typeface="Times New Roman" panose="02020603050405020304" pitchFamily="18" charset="0"/>
              </a:rPr>
              <a:t>Temperature decreases with distance from the deposition region</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16232E"/>
                </a:solidFill>
                <a:latin typeface="Times New Roman" panose="02020603050405020304" pitchFamily="18" charset="0"/>
                <a:ea typeface="Calibri" pitchFamily="34" charset="-122"/>
                <a:cs typeface="Times New Roman" panose="02020603050405020304" pitchFamily="18" charset="0"/>
              </a:rPr>
              <a:t>Repeated layers produce repeated thermal cycles</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16232E"/>
                </a:solidFill>
                <a:latin typeface="Times New Roman" panose="02020603050405020304" pitchFamily="18" charset="0"/>
                <a:ea typeface="Calibri" pitchFamily="34" charset="-122"/>
                <a:cs typeface="Times New Roman" panose="02020603050405020304" pitchFamily="18" charset="0"/>
              </a:rPr>
              <a:t>Non-uniform cooling contributes to residual stress</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16232E"/>
                </a:solidFill>
                <a:latin typeface="Times New Roman" panose="02020603050405020304" pitchFamily="18" charset="0"/>
                <a:ea typeface="Calibri" pitchFamily="34" charset="-122"/>
                <a:cs typeface="Times New Roman" panose="02020603050405020304" pitchFamily="18" charset="0"/>
              </a:rPr>
              <a:t>Thermal contraction contributes to distortion</a:t>
            </a:r>
            <a:endParaRPr lang="en-US" sz="1600" dirty="0">
              <a:latin typeface="Times New Roman" panose="02020603050405020304" pitchFamily="18" charset="0"/>
              <a:cs typeface="Times New Roman" panose="02020603050405020304" pitchFamily="18" charset="0"/>
            </a:endParaRPr>
          </a:p>
        </p:txBody>
      </p:sp>
      <p:sp>
        <p:nvSpPr>
          <p:cNvPr id="10" name="Text 7"/>
          <p:cNvSpPr/>
          <p:nvPr/>
        </p:nvSpPr>
        <p:spPr>
          <a:xfrm>
            <a:off x="11277295" y="6473952"/>
            <a:ext cx="548640" cy="274320"/>
          </a:xfrm>
          <a:prstGeom prst="rect">
            <a:avLst/>
          </a:prstGeom>
          <a:noFill/>
          <a:ln/>
        </p:spPr>
        <p:txBody>
          <a:bodyPr wrap="square" lIns="0" tIns="0" rIns="0" bIns="0" rtlCol="0" anchor="ctr"/>
          <a:lstStyle/>
          <a:p>
            <a:pPr marL="0" indent="0" algn="r">
              <a:buNone/>
            </a:pPr>
            <a:r>
              <a:rPr lang="en-US" sz="900" dirty="0">
                <a:solidFill>
                  <a:srgbClr val="5D6E7C"/>
                </a:solidFill>
                <a:latin typeface="Times New Roman" panose="02020603050405020304" pitchFamily="18" charset="0"/>
                <a:ea typeface="Calibri" pitchFamily="34" charset="-122"/>
                <a:cs typeface="Times New Roman" panose="02020603050405020304" pitchFamily="18" charset="0"/>
              </a:rPr>
              <a:t>18</a:t>
            </a:r>
            <a:endParaRPr lang="en-US" sz="9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32E"/>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572000" cy="4572000"/>
          </a:xfrm>
          <a:prstGeom prst="ellipse">
            <a:avLst/>
          </a:prstGeom>
          <a:solidFill>
            <a:srgbClr val="3A5068">
              <a:alpha val="45000"/>
            </a:srgbClr>
          </a:solidFill>
          <a:ln/>
        </p:spPr>
      </p:sp>
      <p:sp>
        <p:nvSpPr>
          <p:cNvPr id="3" name="Shape 1"/>
          <p:cNvSpPr/>
          <p:nvPr/>
        </p:nvSpPr>
        <p:spPr>
          <a:xfrm>
            <a:off x="10515600" y="5029200"/>
            <a:ext cx="3657600" cy="3657600"/>
          </a:xfrm>
          <a:prstGeom prst="ellipse">
            <a:avLst/>
          </a:prstGeom>
          <a:solidFill>
            <a:srgbClr val="F2A93B">
              <a:alpha val="30000"/>
            </a:srgbClr>
          </a:solidFill>
          <a:ln/>
        </p:spPr>
      </p:sp>
      <p:sp>
        <p:nvSpPr>
          <p:cNvPr id="4" name="Text 2"/>
          <p:cNvSpPr/>
          <p:nvPr/>
        </p:nvSpPr>
        <p:spPr>
          <a:xfrm>
            <a:off x="548640" y="457200"/>
            <a:ext cx="10789920" cy="640080"/>
          </a:xfrm>
          <a:prstGeom prst="rect">
            <a:avLst/>
          </a:prstGeom>
          <a:noFill/>
          <a:ln/>
        </p:spPr>
        <p:txBody>
          <a:bodyPr wrap="square" lIns="0" tIns="0" rIns="0" bIns="0" rtlCol="0" anchor="ctr"/>
          <a:lstStyle/>
          <a:p>
            <a:pPr marL="0" indent="0">
              <a:buNone/>
            </a:pPr>
            <a:r>
              <a:rPr lang="en-US" sz="3600" b="1" dirty="0">
                <a:solidFill>
                  <a:srgbClr val="FFFFFF"/>
                </a:solidFill>
                <a:latin typeface="Times New Roman" panose="02020603050405020304" pitchFamily="18" charset="0"/>
                <a:ea typeface="Cambria" pitchFamily="34" charset="-122"/>
                <a:cs typeface="Times New Roman" panose="02020603050405020304" pitchFamily="18" charset="0"/>
              </a:rPr>
              <a:t>Conclusion &amp; Future Scope</a:t>
            </a:r>
            <a:endParaRPr lang="en-US" sz="3600" dirty="0">
              <a:latin typeface="Times New Roman" panose="02020603050405020304" pitchFamily="18" charset="0"/>
              <a:cs typeface="Times New Roman" panose="02020603050405020304" pitchFamily="18" charset="0"/>
            </a:endParaRPr>
          </a:p>
        </p:txBody>
      </p:sp>
      <p:sp>
        <p:nvSpPr>
          <p:cNvPr id="5" name="Text 3"/>
          <p:cNvSpPr/>
          <p:nvPr/>
        </p:nvSpPr>
        <p:spPr>
          <a:xfrm>
            <a:off x="548640" y="1234440"/>
            <a:ext cx="5303520" cy="274320"/>
          </a:xfrm>
          <a:prstGeom prst="rect">
            <a:avLst/>
          </a:prstGeom>
          <a:noFill/>
          <a:ln/>
        </p:spPr>
        <p:txBody>
          <a:bodyPr wrap="square" lIns="0" tIns="0" rIns="0" bIns="0" rtlCol="0" anchor="ctr"/>
          <a:lstStyle/>
          <a:p>
            <a:pPr marL="0" indent="0">
              <a:buNone/>
            </a:pPr>
            <a:r>
              <a:rPr lang="en-US" sz="1600" b="1" kern="0" spc="100" dirty="0">
                <a:solidFill>
                  <a:srgbClr val="F2A93B"/>
                </a:solidFill>
                <a:latin typeface="Times New Roman" panose="02020603050405020304" pitchFamily="18" charset="0"/>
                <a:ea typeface="Calibri" pitchFamily="34" charset="-122"/>
                <a:cs typeface="Times New Roman" panose="02020603050405020304" pitchFamily="18" charset="0"/>
              </a:rPr>
              <a:t>CONCLUSION</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548640" y="1572768"/>
            <a:ext cx="5394960" cy="329184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Deposition welding is useful for material addition, repair, cladding and additive manufacturing</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The process involves complex heating, melting, deposition and cooling</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MSC Simufact Welding 2024 enables numerical study of thermal &amp; mechanical behaviour</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Temperature distribution, residual stress and deformation are key simulation outputs</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Simulation helps engineers understand and optimize the process before physical trials</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6263640" y="1234440"/>
            <a:ext cx="5303520" cy="274320"/>
          </a:xfrm>
          <a:prstGeom prst="rect">
            <a:avLst/>
          </a:prstGeom>
          <a:noFill/>
          <a:ln/>
        </p:spPr>
        <p:txBody>
          <a:bodyPr wrap="square" lIns="0" tIns="0" rIns="0" bIns="0" rtlCol="0" anchor="ctr"/>
          <a:lstStyle/>
          <a:p>
            <a:pPr marL="0" indent="0">
              <a:buNone/>
            </a:pPr>
            <a:r>
              <a:rPr lang="en-US" sz="1600" b="1" kern="0" spc="100" dirty="0">
                <a:solidFill>
                  <a:srgbClr val="F2A93B"/>
                </a:solidFill>
                <a:latin typeface="Times New Roman" panose="02020603050405020304" pitchFamily="18" charset="0"/>
                <a:ea typeface="Calibri" pitchFamily="34" charset="-122"/>
                <a:cs typeface="Times New Roman" panose="02020603050405020304" pitchFamily="18" charset="0"/>
              </a:rPr>
              <a:t>FUTURE SCOPE</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6263640" y="1572768"/>
            <a:ext cx="5394960" cy="329184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Experimental validation of simulation results</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Optimization of current, voltage and speed</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Multi-layer deposition studies</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Trials with different materials &amp; heat-source models</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Distortion control &amp; microstructure prediction</a:t>
            </a:r>
            <a:endParaRPr lang="en-US" sz="1600" dirty="0">
              <a:latin typeface="Times New Roman" panose="02020603050405020304" pitchFamily="18" charset="0"/>
              <a:cs typeface="Times New Roman" panose="02020603050405020304" pitchFamily="18" charset="0"/>
            </a:endParaRPr>
          </a:p>
          <a:p>
            <a:pPr marL="228600" indent="-228600">
              <a:spcAft>
                <a:spcPts val="1000"/>
              </a:spcAft>
              <a:buSzPct val="100000"/>
              <a:buChar char="▪"/>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Integration with additive manufacturing</a:t>
            </a:r>
            <a:endParaRPr lang="en-US" sz="1600" dirty="0">
              <a:latin typeface="Times New Roman" panose="02020603050405020304" pitchFamily="18" charset="0"/>
              <a:cs typeface="Times New Roman" panose="02020603050405020304" pitchFamily="18" charset="0"/>
            </a:endParaRPr>
          </a:p>
        </p:txBody>
      </p:sp>
      <p:sp>
        <p:nvSpPr>
          <p:cNvPr id="9" name="Shape 7"/>
          <p:cNvSpPr/>
          <p:nvPr/>
        </p:nvSpPr>
        <p:spPr>
          <a:xfrm>
            <a:off x="548640" y="5074920"/>
            <a:ext cx="11064240" cy="0"/>
          </a:xfrm>
          <a:prstGeom prst="line">
            <a:avLst/>
          </a:prstGeom>
          <a:noFill/>
          <a:ln w="12700">
            <a:solidFill>
              <a:srgbClr val="3A5068"/>
            </a:solidFill>
            <a:prstDash val="solid"/>
          </a:ln>
        </p:spPr>
      </p:sp>
      <p:sp>
        <p:nvSpPr>
          <p:cNvPr id="10" name="Text 8"/>
          <p:cNvSpPr/>
          <p:nvPr/>
        </p:nvSpPr>
        <p:spPr>
          <a:xfrm>
            <a:off x="548640" y="5257800"/>
            <a:ext cx="11064240" cy="502920"/>
          </a:xfrm>
          <a:prstGeom prst="rect">
            <a:avLst/>
          </a:prstGeom>
          <a:noFill/>
          <a:ln/>
        </p:spPr>
        <p:txBody>
          <a:bodyPr wrap="square" lIns="0" tIns="0" rIns="0" bIns="0" rtlCol="0" anchor="ctr"/>
          <a:lstStyle/>
          <a:p>
            <a:pPr marL="0" indent="0" algn="ctr">
              <a:buNone/>
            </a:pPr>
            <a:r>
              <a:rPr lang="en-US" sz="3200" b="1" dirty="0">
                <a:solidFill>
                  <a:srgbClr val="F2A93B"/>
                </a:solidFill>
                <a:latin typeface="Times New Roman" panose="02020603050405020304" pitchFamily="18" charset="0"/>
                <a:ea typeface="Cambria" pitchFamily="34" charset="-122"/>
                <a:cs typeface="Times New Roman" panose="02020603050405020304" pitchFamily="18" charset="0"/>
              </a:rPr>
              <a:t>THANK YOU</a:t>
            </a:r>
            <a:endParaRPr lang="en-US" sz="3200" dirty="0">
              <a:latin typeface="Times New Roman" panose="02020603050405020304" pitchFamily="18" charset="0"/>
              <a:cs typeface="Times New Roman" panose="02020603050405020304" pitchFamily="18" charset="0"/>
            </a:endParaRPr>
          </a:p>
        </p:txBody>
      </p:sp>
      <p:sp>
        <p:nvSpPr>
          <p:cNvPr id="11" name="Text 9"/>
          <p:cNvSpPr/>
          <p:nvPr/>
        </p:nvSpPr>
        <p:spPr>
          <a:xfrm>
            <a:off x="548640" y="5806440"/>
            <a:ext cx="11064240" cy="320040"/>
          </a:xfrm>
          <a:prstGeom prst="rect">
            <a:avLst/>
          </a:prstGeom>
          <a:noFill/>
          <a:ln/>
        </p:spPr>
        <p:txBody>
          <a:bodyPr wrap="square" lIns="0" tIns="0" rIns="0" bIns="0" rtlCol="0" anchor="ctr"/>
          <a:lstStyle/>
          <a:p>
            <a:pPr marL="0" indent="0" algn="ctr">
              <a:buNone/>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Gaurav Kumar — 2301089      •      Sharansh — 2301090      •      Akanksha Sharma — 2301093</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548640" y="6126480"/>
            <a:ext cx="11064240" cy="274320"/>
          </a:xfrm>
          <a:prstGeom prst="rect">
            <a:avLst/>
          </a:prstGeom>
          <a:noFill/>
          <a:ln/>
        </p:spPr>
        <p:txBody>
          <a:bodyPr wrap="square" lIns="0" tIns="0" rIns="0" bIns="0" rtlCol="0" anchor="ctr"/>
          <a:lstStyle/>
          <a:p>
            <a:pPr marL="0" indent="0" algn="ctr">
              <a:buNone/>
            </a:pPr>
            <a:r>
              <a:rPr lang="en-US" sz="1200" dirty="0">
                <a:solidFill>
                  <a:srgbClr val="C7D2DB"/>
                </a:solidFill>
                <a:latin typeface="Times New Roman" panose="02020603050405020304" pitchFamily="18" charset="0"/>
                <a:ea typeface="Calibri" pitchFamily="34" charset="-122"/>
                <a:cs typeface="Times New Roman" panose="02020603050405020304" pitchFamily="18" charset="0"/>
              </a:rPr>
              <a:t>Department of Mechanical Engineering, National Institute of Technology Patna</a:t>
            </a:r>
            <a:endParaRPr lang="en-US" sz="1200" dirty="0">
              <a:latin typeface="Times New Roman" panose="02020603050405020304" pitchFamily="18" charset="0"/>
              <a:cs typeface="Times New Roman" panose="02020603050405020304" pitchFamily="18" charset="0"/>
            </a:endParaRPr>
          </a:p>
        </p:txBody>
      </p:sp>
      <p:sp>
        <p:nvSpPr>
          <p:cNvPr id="13" name="Text 11"/>
          <p:cNvSpPr/>
          <p:nvPr/>
        </p:nvSpPr>
        <p:spPr>
          <a:xfrm>
            <a:off x="457200" y="6473952"/>
            <a:ext cx="5486400" cy="274320"/>
          </a:xfrm>
          <a:prstGeom prst="rect">
            <a:avLst/>
          </a:prstGeom>
          <a:noFill/>
          <a:ln/>
        </p:spPr>
        <p:txBody>
          <a:bodyPr wrap="square" lIns="0" tIns="0" rIns="0" bIns="0" rtlCol="0" anchor="ctr"/>
          <a:lstStyle/>
          <a:p>
            <a:pPr marL="0" indent="0" algn="l">
              <a:buNone/>
            </a:pPr>
            <a:r>
              <a:rPr lang="en-US" sz="1050" dirty="0">
                <a:solidFill>
                  <a:srgbClr val="5D6E7C"/>
                </a:solidFill>
                <a:latin typeface="Times New Roman" panose="02020603050405020304" pitchFamily="18" charset="0"/>
                <a:ea typeface="Calibri" pitchFamily="34" charset="-122"/>
                <a:cs typeface="Times New Roman" panose="02020603050405020304" pitchFamily="18" charset="0"/>
              </a:rPr>
              <a:t>Conclusion</a:t>
            </a:r>
            <a:endParaRPr lang="en-US" sz="105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